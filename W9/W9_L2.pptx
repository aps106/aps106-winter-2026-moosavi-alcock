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</p:sldMasterIdLst>
  <p:notesMasterIdLst>
    <p:notesMasterId r:id="rId42"/>
  </p:notesMasterIdLst>
  <p:sldIdLst>
    <p:sldId id="256" r:id="rId5"/>
    <p:sldId id="259" r:id="rId6"/>
    <p:sldId id="449" r:id="rId7"/>
    <p:sldId id="450" r:id="rId8"/>
    <p:sldId id="451" r:id="rId9"/>
    <p:sldId id="452" r:id="rId10"/>
    <p:sldId id="461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12" r:id="rId20"/>
    <p:sldId id="462" r:id="rId21"/>
    <p:sldId id="463" r:id="rId22"/>
    <p:sldId id="464" r:id="rId23"/>
    <p:sldId id="428" r:id="rId24"/>
    <p:sldId id="434" r:id="rId25"/>
    <p:sldId id="435" r:id="rId26"/>
    <p:sldId id="436" r:id="rId27"/>
    <p:sldId id="437" r:id="rId28"/>
    <p:sldId id="465" r:id="rId29"/>
    <p:sldId id="438" r:id="rId30"/>
    <p:sldId id="439" r:id="rId31"/>
    <p:sldId id="440" r:id="rId32"/>
    <p:sldId id="441" r:id="rId33"/>
    <p:sldId id="442" r:id="rId34"/>
    <p:sldId id="443" r:id="rId35"/>
    <p:sldId id="444" r:id="rId36"/>
    <p:sldId id="445" r:id="rId37"/>
    <p:sldId id="446" r:id="rId38"/>
    <p:sldId id="447" r:id="rId39"/>
    <p:sldId id="448" r:id="rId40"/>
    <p:sldId id="43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E85791-C1D7-4B10-A134-E743E03272E0}" v="1" dt="2026-03-13T19:04:48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80" autoAdjust="0"/>
    <p:restoredTop sz="96197"/>
  </p:normalViewPr>
  <p:slideViewPr>
    <p:cSldViewPr snapToGrid="0">
      <p:cViewPr varScale="1">
        <p:scale>
          <a:sx n="93" d="100"/>
          <a:sy n="93" d="100"/>
        </p:scale>
        <p:origin x="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becca Alcock" userId="fcc430e4-ca3d-4dc5-a31b-19580bf8d3bc" providerId="ADAL" clId="{6B73ED60-C891-490C-BB39-11F6FF357E20}"/>
    <pc:docChg chg="custSel modSld">
      <pc:chgData name="Rebecca Alcock" userId="fcc430e4-ca3d-4dc5-a31b-19580bf8d3bc" providerId="ADAL" clId="{6B73ED60-C891-490C-BB39-11F6FF357E20}" dt="2026-03-13T19:05:09.356" v="8"/>
      <pc:docMkLst>
        <pc:docMk/>
      </pc:docMkLst>
      <pc:sldChg chg="modSp mod addAnim delAnim modAnim">
        <pc:chgData name="Rebecca Alcock" userId="fcc430e4-ca3d-4dc5-a31b-19580bf8d3bc" providerId="ADAL" clId="{6B73ED60-C891-490C-BB39-11F6FF357E20}" dt="2026-03-13T19:05:09.356" v="8"/>
        <pc:sldMkLst>
          <pc:docMk/>
          <pc:sldMk cId="672600307" sldId="445"/>
        </pc:sldMkLst>
        <pc:spChg chg="mod">
          <ac:chgData name="Rebecca Alcock" userId="fcc430e4-ca3d-4dc5-a31b-19580bf8d3bc" providerId="ADAL" clId="{6B73ED60-C891-490C-BB39-11F6FF357E20}" dt="2026-03-13T19:04:42.441" v="0" actId="20577"/>
          <ac:spMkLst>
            <pc:docMk/>
            <pc:sldMk cId="672600307" sldId="445"/>
            <ac:spMk id="5" creationId="{E69E35A8-B358-4C38-9AEE-294D8EFA49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3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97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CFC0A6-C05F-7243-B6A2-7907C8B063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18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1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tinyurl.com/aps106aliaslist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tinyurl.com/2p9c443y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7x79adcw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Functions and Aliasing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9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9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pic>
        <p:nvPicPr>
          <p:cNvPr id="6" name="Picture 5" descr="Cartoon of cartoon of people talking to each other&#10;&#10;AI-generated content may be incorrect.">
            <a:extLst>
              <a:ext uri="{FF2B5EF4-FFF2-40B4-BE49-F238E27FC236}">
                <a16:creationId xmlns:a16="http://schemas.microsoft.com/office/drawing/2014/main" id="{41BC0FA5-7806-9333-3C85-B6D8BC91F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4" t="12362" r="13090" b="10538"/>
          <a:stretch/>
        </p:blipFill>
        <p:spPr>
          <a:xfrm>
            <a:off x="9757343" y="1805257"/>
            <a:ext cx="2260074" cy="324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9.1</a:t>
            </a:r>
          </a:p>
          <a:p>
            <a:pPr lvl="1"/>
            <a:r>
              <a:rPr lang="en-US" dirty="0"/>
              <a:t>Term Test 2 Review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9.2</a:t>
            </a:r>
          </a:p>
          <a:p>
            <a:pPr lvl="1"/>
            <a:r>
              <a:rPr lang="en-US" b="1" dirty="0"/>
              <a:t>Advanced Functions and Aliasing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9.3</a:t>
            </a:r>
          </a:p>
          <a:p>
            <a:pPr lvl="1"/>
            <a:r>
              <a:rPr lang="en-US" dirty="0"/>
              <a:t>Cancelled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286D-C3A4-C34B-996B-562FF5A3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Taking functions to the next level!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6ECF-7A4B-2B4F-A8C6-0B2AD3146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12902" cy="4835479"/>
          </a:xfrm>
        </p:spPr>
        <p:txBody>
          <a:bodyPr/>
          <a:lstStyle/>
          <a:p>
            <a:r>
              <a:rPr lang="en-US" dirty="0"/>
              <a:t>So far, we have only covered the essential concepts related to functions</a:t>
            </a:r>
          </a:p>
          <a:p>
            <a:r>
              <a:rPr lang="en-US" dirty="0"/>
              <a:t>In this lecture, we will discuss:</a:t>
            </a:r>
          </a:p>
          <a:p>
            <a:pPr lvl="1"/>
            <a:r>
              <a:rPr lang="en-US" dirty="0"/>
              <a:t>Aliasing</a:t>
            </a:r>
          </a:p>
          <a:p>
            <a:pPr lvl="1"/>
            <a:r>
              <a:rPr lang="en-US" dirty="0"/>
              <a:t>Creating and using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367461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/>
                </a:solidFill>
              </a:rPr>
              <a:t>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59D7-9968-3945-AD37-25CB07F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08" y="1724643"/>
            <a:ext cx="11766783" cy="4769942"/>
          </a:xfrm>
        </p:spPr>
        <p:txBody>
          <a:bodyPr>
            <a:normAutofit fontScale="92500" lnSpcReduction="10000"/>
          </a:bodyPr>
          <a:lstStyle/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When two variable names refer to the same object, they are </a:t>
            </a:r>
            <a:r>
              <a:rPr lang="en-US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aliases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When we modify one variable, we are modifying the object it refers to, hence also modifying the second variable.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This is common source of error when working with </a:t>
            </a:r>
            <a:r>
              <a:rPr lang="en-US" spc="-10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objects.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9BD97458-1679-4640-9875-FB3E18AF5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474" y="3188677"/>
            <a:ext cx="5137052" cy="2446215"/>
          </a:xfrm>
          <a:prstGeom prst="rect">
            <a:avLst/>
          </a:prstGeom>
        </p:spPr>
      </p:pic>
      <p:pic>
        <p:nvPicPr>
          <p:cNvPr id="7170" name="Picture 2" descr="Alias (TV series) - Wikipedia">
            <a:extLst>
              <a:ext uri="{FF2B5EF4-FFF2-40B4-BE49-F238E27FC236}">
                <a16:creationId xmlns:a16="http://schemas.microsoft.com/office/drawing/2014/main" id="{B4015493-563B-4345-B457-73A7C30AE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4" y="3390704"/>
            <a:ext cx="2689274" cy="215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70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Avoiding</a:t>
            </a:r>
            <a:r>
              <a:rPr lang="en-US" dirty="0">
                <a:solidFill>
                  <a:schemeClr val="accent6"/>
                </a:solidFill>
              </a:rPr>
              <a:t> Aliasing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D2E84-FDBC-C54C-98C8-B89B9B89CD2E}"/>
              </a:ext>
            </a:extLst>
          </p:cNvPr>
          <p:cNvSpPr txBox="1"/>
          <p:nvPr/>
        </p:nvSpPr>
        <p:spPr>
          <a:xfrm>
            <a:off x="2084467" y="1735797"/>
            <a:ext cx="772680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lst1 =  [11, 12, 13, 14, 15, 16, 27]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lst2 = lst1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lst1[-1] = 17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lst2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[11, 12, 13, 14, 15, 16, 17]</a:t>
            </a: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2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 id(lst1)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49012568</a:t>
            </a:r>
          </a:p>
          <a:p>
            <a:pPr marL="12700">
              <a:lnSpc>
                <a:spcPct val="100000"/>
              </a:lnSpc>
            </a:pPr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id(lst2)</a:t>
            </a:r>
          </a:p>
          <a:p>
            <a:pPr marL="12700"/>
            <a:r>
              <a:rPr lang="en-CA" sz="2200" spc="-5" dirty="0">
                <a:solidFill>
                  <a:srgbClr val="00FF00"/>
                </a:solidFill>
                <a:latin typeface="Courier New"/>
                <a:cs typeface="Courier New"/>
              </a:rPr>
              <a:t>49012568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4609F4-6FEB-2A4F-887C-28901F20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58"/>
            <a:ext cx="10219337" cy="4769942"/>
          </a:xfrm>
        </p:spPr>
        <p:txBody>
          <a:bodyPr>
            <a:normAutofit/>
          </a:bodyPr>
          <a:lstStyle/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767715">
              <a:lnSpc>
                <a:spcPct val="100000"/>
              </a:lnSpc>
            </a:pPr>
            <a:r>
              <a:rPr lang="en-US" spc="-10" dirty="0">
                <a:latin typeface="Segoe UI" panose="020B0502040204020203" pitchFamily="34" charset="0"/>
                <a:cs typeface="Segoe UI" panose="020B0502040204020203" pitchFamily="34" charset="0"/>
              </a:rPr>
              <a:t>How can we copy lst1 into another list without aliasing?</a:t>
            </a:r>
          </a:p>
          <a:p>
            <a:pPr marL="12700" marR="767715">
              <a:lnSpc>
                <a:spcPct val="100000"/>
              </a:lnSpc>
            </a:pPr>
            <a:endParaRPr lang="en-US" spc="-1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5" name="Picture 2" descr="Cisco command aliases (shortcuts)">
            <a:extLst>
              <a:ext uri="{FF2B5EF4-FFF2-40B4-BE49-F238E27FC236}">
                <a16:creationId xmlns:a16="http://schemas.microsoft.com/office/drawing/2014/main" id="{43A21047-5E1E-0946-8CCC-2F828DED9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671" y="2552190"/>
            <a:ext cx="3275463" cy="218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05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0930-05E6-C844-87AE-E283724B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508" y="667812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Copying Lists and Avoiding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D2E84-FDBC-C54C-98C8-B89B9B89CD2E}"/>
              </a:ext>
            </a:extLst>
          </p:cNvPr>
          <p:cNvSpPr txBox="1"/>
          <p:nvPr/>
        </p:nvSpPr>
        <p:spPr>
          <a:xfrm>
            <a:off x="486508" y="2426017"/>
            <a:ext cx="772680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 =  [0, 1, 2, 3]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00"/>
                </a:solidFill>
                <a:latin typeface="Courier New"/>
                <a:cs typeface="Courier New"/>
              </a:rPr>
              <a:t>lst_b</a:t>
            </a: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endParaRPr lang="en-CA" sz="2000" spc="-5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chemeClr val="accent1"/>
                </a:solidFill>
                <a:latin typeface="Courier New"/>
                <a:cs typeface="Courier New"/>
              </a:rPr>
              <a:t>lst_c</a:t>
            </a:r>
            <a:r>
              <a:rPr lang="en-CA" sz="2000" spc="-5" dirty="0">
                <a:solidFill>
                  <a:schemeClr val="accent1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list(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</a:t>
            </a:r>
            <a:r>
              <a:rPr lang="en-CA" sz="2000" spc="-5" dirty="0" err="1">
                <a:solidFill>
                  <a:srgbClr val="FF00E9"/>
                </a:solidFill>
                <a:latin typeface="Courier New"/>
                <a:cs typeface="Courier New"/>
              </a:rPr>
              <a:t>lst_d</a:t>
            </a:r>
            <a:r>
              <a:rPr lang="en-CA" sz="2000" spc="-5" dirty="0">
                <a:solidFill>
                  <a:srgbClr val="FF00E9"/>
                </a:solidFill>
                <a:latin typeface="Courier New"/>
                <a:cs typeface="Courier New"/>
              </a:rPr>
              <a:t> 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= 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chemeClr val="accent6"/>
                </a:solidFill>
                <a:latin typeface="Courier New"/>
                <a:cs typeface="Courier New"/>
              </a:rPr>
              <a:t>[:]</a:t>
            </a:r>
          </a:p>
          <a:p>
            <a:pPr marL="12700">
              <a:lnSpc>
                <a:spcPct val="100000"/>
              </a:lnSpc>
            </a:pPr>
            <a:endParaRPr lang="en-CA" sz="20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</a:t>
            </a:r>
            <a:r>
              <a:rPr lang="en-CA" sz="2000" dirty="0">
                <a:solidFill>
                  <a:srgbClr val="00FF00"/>
                </a:solidFill>
                <a:latin typeface="Courier New"/>
                <a:cs typeface="Courier New"/>
              </a:rPr>
              <a:t>&gt;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lst_a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39012510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lst_b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>
              <a:lnSpc>
                <a:spcPct val="100000"/>
              </a:lnSpc>
            </a:pPr>
            <a:r>
              <a:rPr lang="en-CA" sz="2000" spc="-5" dirty="0">
                <a:solidFill>
                  <a:srgbClr val="FF0000"/>
                </a:solidFill>
                <a:latin typeface="Courier New"/>
                <a:cs typeface="Courier New"/>
              </a:rPr>
              <a:t>39012510</a:t>
            </a:r>
          </a:p>
          <a:p>
            <a:pPr marL="12700"/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lst_c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/>
            <a:r>
              <a:rPr lang="en-CA" sz="2000" spc="-5" dirty="0">
                <a:solidFill>
                  <a:schemeClr val="accent2"/>
                </a:solidFill>
                <a:latin typeface="Courier New"/>
                <a:cs typeface="Courier New"/>
              </a:rPr>
              <a:t>54514112</a:t>
            </a:r>
          </a:p>
          <a:p>
            <a:pPr marL="12700"/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&gt;&gt;&gt; id(</a:t>
            </a:r>
            <a:r>
              <a:rPr lang="en-CA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lst_d</a:t>
            </a:r>
            <a:r>
              <a:rPr lang="en-CA" sz="2000" spc="-5" dirty="0">
                <a:solidFill>
                  <a:srgbClr val="00FF00"/>
                </a:solidFill>
                <a:latin typeface="Courier New"/>
                <a:cs typeface="Courier New"/>
              </a:rPr>
              <a:t>)</a:t>
            </a:r>
          </a:p>
          <a:p>
            <a:pPr marL="12700"/>
            <a:r>
              <a:rPr lang="en-CA" sz="2000" spc="-5" dirty="0">
                <a:solidFill>
                  <a:srgbClr val="FF00E9"/>
                </a:solidFill>
                <a:latin typeface="Courier New"/>
                <a:cs typeface="Courier New"/>
              </a:rPr>
              <a:t>24514139</a:t>
            </a:r>
          </a:p>
          <a:p>
            <a:pPr marL="12700">
              <a:lnSpc>
                <a:spcPct val="100000"/>
              </a:lnSpc>
            </a:pPr>
            <a:endParaRPr lang="en-CA" sz="22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4609F4-6FEB-2A4F-887C-28901F20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08" y="1383662"/>
            <a:ext cx="10219337" cy="1042355"/>
          </a:xfrm>
        </p:spPr>
        <p:txBody>
          <a:bodyPr>
            <a:normAutofit/>
          </a:bodyPr>
          <a:lstStyle/>
          <a:p>
            <a:r>
              <a:rPr lang="en-US" sz="2000" dirty="0"/>
              <a:t>There are two simple ways to copy lists:</a:t>
            </a:r>
          </a:p>
          <a:p>
            <a:pPr lvl="1"/>
            <a:r>
              <a:rPr lang="en-US" sz="2000" dirty="0"/>
              <a:t>Using the  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list( ) </a:t>
            </a:r>
            <a:r>
              <a:rPr lang="en-US" sz="2000" dirty="0"/>
              <a:t>function</a:t>
            </a:r>
          </a:p>
          <a:p>
            <a:pPr lvl="1"/>
            <a:r>
              <a:rPr lang="en-US" sz="2000" dirty="0"/>
              <a:t>Completely slice the list 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[:]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D89EBEB-90E7-8140-9E3E-E025BF0D9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722" y="1383662"/>
            <a:ext cx="4916170" cy="5016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CAB457-17B5-4643-9825-17D69660D5B8}"/>
              </a:ext>
            </a:extLst>
          </p:cNvPr>
          <p:cNvSpPr/>
          <p:nvPr/>
        </p:nvSpPr>
        <p:spPr>
          <a:xfrm>
            <a:off x="6639951" y="2053883"/>
            <a:ext cx="703384" cy="3862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10E57-6169-9E45-AF31-A6F69413552D}"/>
              </a:ext>
            </a:extLst>
          </p:cNvPr>
          <p:cNvSpPr/>
          <p:nvPr/>
        </p:nvSpPr>
        <p:spPr>
          <a:xfrm>
            <a:off x="6639951" y="3063166"/>
            <a:ext cx="703384" cy="3862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B14EC7-1460-8746-BE98-EFB876D01678}"/>
              </a:ext>
            </a:extLst>
          </p:cNvPr>
          <p:cNvSpPr/>
          <p:nvPr/>
        </p:nvSpPr>
        <p:spPr>
          <a:xfrm>
            <a:off x="6649329" y="4092525"/>
            <a:ext cx="703384" cy="38620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290637-1303-3244-A7EE-940F8D37DF05}"/>
              </a:ext>
            </a:extLst>
          </p:cNvPr>
          <p:cNvSpPr/>
          <p:nvPr/>
        </p:nvSpPr>
        <p:spPr>
          <a:xfrm>
            <a:off x="6649329" y="5515882"/>
            <a:ext cx="703384" cy="386202"/>
          </a:xfrm>
          <a:prstGeom prst="rect">
            <a:avLst/>
          </a:prstGeom>
          <a:noFill/>
          <a:ln w="57150">
            <a:solidFill>
              <a:srgbClr val="FF0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2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1D74-B708-5D40-0CED-B80C764E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Checking Object Identity: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</a:p>
        </p:txBody>
      </p:sp>
      <p:pic>
        <p:nvPicPr>
          <p:cNvPr id="9" name="Picture 8" descr="The image displays a Python code snippet demonstrating the concepts of variable assignment, object identity, and equality. It shows how the 'id()' function returns unique memory addresses for different variables, while the '==' operator checks for content equality, and the 'is' operator checks for object identity.&#10;&#10;AI-generated content may be incorrect.">
            <a:extLst>
              <a:ext uri="{FF2B5EF4-FFF2-40B4-BE49-F238E27FC236}">
                <a16:creationId xmlns:a16="http://schemas.microsoft.com/office/drawing/2014/main" id="{A9F90914-CFF8-6B61-6E19-F0288A4FA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47" y="1628775"/>
            <a:ext cx="7808506" cy="468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2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55" y="802001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Summarizing and Revisiting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60" y="1770319"/>
            <a:ext cx="8155675" cy="4835479"/>
          </a:xfrm>
        </p:spPr>
        <p:txBody>
          <a:bodyPr/>
          <a:lstStyle/>
          <a:p>
            <a:r>
              <a:rPr lang="en-US" dirty="0"/>
              <a:t>Python passes parameters by object references</a:t>
            </a:r>
          </a:p>
          <a:p>
            <a:pPr lvl="1"/>
            <a:r>
              <a:rPr lang="en-US" dirty="0"/>
              <a:t>An object is not copied, its reference is passed</a:t>
            </a:r>
          </a:p>
          <a:p>
            <a:r>
              <a:rPr lang="en-US" dirty="0"/>
              <a:t>If the object being referenced is immutable (number, string, tuple), it is not possible to modify that object</a:t>
            </a:r>
          </a:p>
          <a:p>
            <a:r>
              <a:rPr lang="en-US" dirty="0"/>
              <a:t>If the object being referenced is mutable (lists, sets, dictionaries), then a change made in the function is also reflected in the referenced object </a:t>
            </a:r>
          </a:p>
          <a:p>
            <a:pPr lvl="1"/>
            <a:r>
              <a:rPr lang="en-US" dirty="0"/>
              <a:t>This is called </a:t>
            </a:r>
            <a:r>
              <a:rPr lang="en-US" dirty="0">
                <a:solidFill>
                  <a:schemeClr val="accent6"/>
                </a:solidFill>
              </a:rPr>
              <a:t>aliasing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0A2AD-B122-8643-8D8E-E1D60E04EDEA}"/>
              </a:ext>
            </a:extLst>
          </p:cNvPr>
          <p:cNvSpPr txBox="1"/>
          <p:nvPr/>
        </p:nvSpPr>
        <p:spPr>
          <a:xfrm>
            <a:off x="9276780" y="3995678"/>
            <a:ext cx="19575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Willow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Willie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Stinky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Baby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Stinky baby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Stinky girl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Wilson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Winnie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Winnie McGee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7" name="Picture 6" descr="The image shows a black dog with expressive eyes, wearing a collar, standing on a grassy lawn with a view of boats on a calm water body, possibly a lake or a bay, with a serene, peaceful atmosphere.&#10;&#10;AI-generated content may be incorrect.">
            <a:extLst>
              <a:ext uri="{FF2B5EF4-FFF2-40B4-BE49-F238E27FC236}">
                <a16:creationId xmlns:a16="http://schemas.microsoft.com/office/drawing/2014/main" id="{D4F57056-11E8-1594-D9C5-092DB2943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005061" y="1366406"/>
            <a:ext cx="2974489" cy="22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Recap: 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75844" cy="4835479"/>
          </a:xfrm>
        </p:spPr>
        <p:txBody>
          <a:bodyPr/>
          <a:lstStyle/>
          <a:p>
            <a:r>
              <a:rPr lang="en-US" dirty="0"/>
              <a:t>A variable is only available from inside the region it is created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which is called the variable</a:t>
            </a:r>
            <a:r>
              <a:rPr lang="en-US" dirty="0">
                <a:solidFill>
                  <a:schemeClr val="accent2"/>
                </a:solidFill>
              </a:rPr>
              <a:t>’</a:t>
            </a:r>
            <a:r>
              <a:rPr lang="en-US" dirty="0"/>
              <a:t>s scope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 Python has four different scopes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and we will discuss the two most important for this course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Local Scope</a:t>
            </a:r>
          </a:p>
          <a:p>
            <a:r>
              <a:rPr lang="en-US" dirty="0"/>
              <a:t>Global Scope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3E0CB-357A-4FC6-BC70-475165F855E6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2CF7420-94F9-4950-A2D7-2E558F23530E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B092BD-7151-4669-95E4-24CB02A769D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825E9A61-61F0-4C2C-9D68-2DA941AE4D2B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BB9FAA-E4FA-4324-BFF2-C06B1A9DE011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10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40898"/>
          </a:xfrm>
        </p:spPr>
        <p:txBody>
          <a:bodyPr>
            <a:normAutofit/>
          </a:bodyPr>
          <a:lstStyle/>
          <a:p>
            <a:r>
              <a:rPr lang="en-US" b="1" dirty="0"/>
              <a:t>Local Scope</a:t>
            </a:r>
          </a:p>
          <a:p>
            <a:r>
              <a:rPr lang="en-US" dirty="0"/>
              <a:t>Whenever you define a variable within a </a:t>
            </a:r>
            <a:r>
              <a:rPr lang="en-US" b="1" dirty="0"/>
              <a:t>function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its scope lies </a:t>
            </a:r>
            <a:r>
              <a:rPr lang="en-US" b="1" dirty="0">
                <a:solidFill>
                  <a:schemeClr val="accent2"/>
                </a:solidFill>
              </a:rPr>
              <a:t>ONLY</a:t>
            </a:r>
            <a:r>
              <a:rPr lang="en-US" dirty="0"/>
              <a:t> within the </a:t>
            </a:r>
            <a:r>
              <a:rPr lang="en-US" b="1" dirty="0"/>
              <a:t>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It is accessible from the point at which it is defined until the end of the function and exists for as long as the function is executing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its value cannot be changed or even accessed from outside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D981D-D4D3-47E1-8357-8C5F0CD388E8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D249383-172B-4D86-8E0C-3FA36E1CD4A1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3A0528-E031-4162-AB03-8B5D5356CEFF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6" name="Arrow: Bent-Up 15">
            <a:extLst>
              <a:ext uri="{FF2B5EF4-FFF2-40B4-BE49-F238E27FC236}">
                <a16:creationId xmlns:a16="http://schemas.microsoft.com/office/drawing/2014/main" id="{79FD8F2E-3259-44DD-93CC-66ED77F6EA87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79DBC6-4D64-43CF-8DF7-245CCC7D49D7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1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687C-C433-45BC-9635-279D5643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3487458"/>
          </a:xfrm>
        </p:spPr>
        <p:txBody>
          <a:bodyPr>
            <a:normAutofit/>
          </a:bodyPr>
          <a:lstStyle/>
          <a:p>
            <a:r>
              <a:rPr lang="en-US" b="1" dirty="0"/>
              <a:t>Local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11BD9-9C26-42C5-A943-C8A5580FEEE6}"/>
              </a:ext>
            </a:extLst>
          </p:cNvPr>
          <p:cNvSpPr txBox="1"/>
          <p:nvPr/>
        </p:nvSpPr>
        <p:spPr>
          <a:xfrm>
            <a:off x="836554" y="2597296"/>
            <a:ext cx="448071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‘Rebecca’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print(name)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F5397-9C99-4C01-893C-D225DEC17428}"/>
              </a:ext>
            </a:extLst>
          </p:cNvPr>
          <p:cNvSpPr txBox="1"/>
          <p:nvPr/>
        </p:nvSpPr>
        <p:spPr>
          <a:xfrm>
            <a:off x="6445129" y="4526989"/>
            <a:ext cx="4736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local to the function and not accessible outside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5E3E7E-FD2E-420F-996E-61F30658671B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C3B6905A-EBE6-44B7-9863-D0EFE8705741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27022F-A9FB-43B4-9339-3A8741D1C509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360A2-A3FA-1844-A93C-BECA904EDC68}"/>
              </a:ext>
            </a:extLst>
          </p:cNvPr>
          <p:cNvSpPr txBox="1"/>
          <p:nvPr/>
        </p:nvSpPr>
        <p:spPr>
          <a:xfrm>
            <a:off x="836554" y="5884513"/>
            <a:ext cx="7367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Error: </a:t>
            </a:r>
            <a:r>
              <a:rPr lang="en-US" sz="2400" dirty="0" err="1">
                <a:solidFill>
                  <a:srgbClr val="FF0000"/>
                </a:solidFill>
              </a:rPr>
              <a:t>builtins.NameError</a:t>
            </a:r>
            <a:r>
              <a:rPr lang="en-US" sz="2400" dirty="0">
                <a:solidFill>
                  <a:srgbClr val="FF0000"/>
                </a:solidFill>
              </a:rPr>
              <a:t>: name 'name' is not defined</a:t>
            </a:r>
          </a:p>
        </p:txBody>
      </p:sp>
    </p:spTree>
    <p:extLst>
      <p:ext uri="{BB962C8B-B14F-4D97-AF65-F5344CB8AC3E}">
        <p14:creationId xmlns:p14="http://schemas.microsoft.com/office/powerpoint/2010/main" val="341356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A55381-03D0-4DB3-A1E2-922A8A62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4864344"/>
          </a:xfrm>
        </p:spPr>
        <p:txBody>
          <a:bodyPr>
            <a:normAutofit/>
          </a:bodyPr>
          <a:lstStyle/>
          <a:p>
            <a:r>
              <a:rPr lang="en-US" b="1" dirty="0"/>
              <a:t>Global Scope</a:t>
            </a:r>
          </a:p>
          <a:p>
            <a:r>
              <a:rPr lang="en-US" dirty="0"/>
              <a:t>Whenever a variable is defined outside any function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it becomes a global variable</a:t>
            </a:r>
            <a:r>
              <a:rPr lang="en-US" dirty="0">
                <a:solidFill>
                  <a:schemeClr val="accent1"/>
                </a:solidFill>
              </a:rPr>
              <a:t>,</a:t>
            </a:r>
            <a:r>
              <a:rPr lang="en-US" dirty="0"/>
              <a:t> and its scope is anywhere within the program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This means that variables and functions defined outside of a function are accessible inside of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89D359-2B8E-43EF-A074-2790193F9109}"/>
              </a:ext>
            </a:extLst>
          </p:cNvPr>
          <p:cNvSpPr txBox="1"/>
          <p:nvPr/>
        </p:nvSpPr>
        <p:spPr>
          <a:xfrm>
            <a:off x="8772342" y="4884660"/>
            <a:ext cx="2519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253738B-EDB1-4A11-8EFB-6F42C43BDF90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46B8AA-81D4-4066-B0CB-239A86ADB6A7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D93DB152-ACBE-4AC8-A852-C16E07D8BE38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7CD69D-2288-431C-AD63-29C624CCC2CD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07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6DE74-C3EC-491E-8B5F-8944C4C065BD}"/>
              </a:ext>
            </a:extLst>
          </p:cNvPr>
          <p:cNvSpPr txBox="1"/>
          <p:nvPr/>
        </p:nvSpPr>
        <p:spPr>
          <a:xfrm>
            <a:off x="5722359" y="4169659"/>
            <a:ext cx="28580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in the global scope and is accessible inside the 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7A1-7B06-4A9C-A47B-82097D7676F8}"/>
              </a:ext>
            </a:extLst>
          </p:cNvPr>
          <p:cNvSpPr txBox="1"/>
          <p:nvPr/>
        </p:nvSpPr>
        <p:spPr>
          <a:xfrm>
            <a:off x="8772342" y="4884660"/>
            <a:ext cx="278422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name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0000"/>
                </a:solidFill>
              </a:rPr>
              <a:t>No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name in global?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00B050"/>
                </a:solidFill>
              </a:rPr>
              <a:t>Yes (Done)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0F492E-61E6-42D2-97A6-6FE575A0FF64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1CD3A83A-1FE3-4D37-943E-6966B898C267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A55381-03D0-4DB3-A1E2-922A8A62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3257125"/>
          </a:xfrm>
        </p:spPr>
        <p:txBody>
          <a:bodyPr>
            <a:normAutofit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E603-DFE1-4988-B2F7-63C19EC85B79}"/>
              </a:ext>
            </a:extLst>
          </p:cNvPr>
          <p:cNvSpPr txBox="1"/>
          <p:nvPr/>
        </p:nvSpPr>
        <p:spPr>
          <a:xfrm>
            <a:off x="4918580" y="622850"/>
            <a:ext cx="3434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Notice that 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400" dirty="0">
                <a:solidFill>
                  <a:srgbClr val="FFFFFF"/>
                </a:solidFill>
              </a:rPr>
              <a:t> is not defined anywhere when we define the function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4D25D-3029-41DE-91D3-9E5F33A19B65}"/>
              </a:ext>
            </a:extLst>
          </p:cNvPr>
          <p:cNvSpPr txBox="1"/>
          <p:nvPr/>
        </p:nvSpPr>
        <p:spPr>
          <a:xfrm>
            <a:off x="834908" y="2591056"/>
            <a:ext cx="469551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‘Rebecca’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E384E-F4F6-1F47-B623-CA4ADCEA79E5}"/>
              </a:ext>
            </a:extLst>
          </p:cNvPr>
          <p:cNvSpPr txBox="1"/>
          <p:nvPr/>
        </p:nvSpPr>
        <p:spPr>
          <a:xfrm>
            <a:off x="796286" y="5954763"/>
            <a:ext cx="4122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OUTPUT: Rebecca</a:t>
            </a:r>
          </a:p>
        </p:txBody>
      </p:sp>
    </p:spTree>
    <p:extLst>
      <p:ext uri="{BB962C8B-B14F-4D97-AF65-F5344CB8AC3E}">
        <p14:creationId xmlns:p14="http://schemas.microsoft.com/office/powerpoint/2010/main" val="42335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5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815B-3ABE-499C-818D-676C050C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Variable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267A1-7B06-4A9C-A47B-82097D7676F8}"/>
              </a:ext>
            </a:extLst>
          </p:cNvPr>
          <p:cNvSpPr txBox="1"/>
          <p:nvPr/>
        </p:nvSpPr>
        <p:spPr>
          <a:xfrm>
            <a:off x="8772342" y="4884660"/>
            <a:ext cx="25859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Variable Lookup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FFFFFF"/>
                </a:solidFill>
              </a:rPr>
              <a:t>Is name in local?</a:t>
            </a:r>
          </a:p>
          <a:p>
            <a:pPr marL="342900" indent="-342900">
              <a:buFontTx/>
              <a:buChar char="-"/>
            </a:pPr>
            <a:r>
              <a:rPr lang="en-US" sz="2200" dirty="0">
                <a:solidFill>
                  <a:srgbClr val="00B050"/>
                </a:solidFill>
              </a:rPr>
              <a:t>Yes (Done)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70F492E-61E6-42D2-97A6-6FE575A0FF64}"/>
              </a:ext>
            </a:extLst>
          </p:cNvPr>
          <p:cNvSpPr/>
          <p:nvPr/>
        </p:nvSpPr>
        <p:spPr>
          <a:xfrm rot="10800000">
            <a:off x="9863785" y="4228512"/>
            <a:ext cx="336264" cy="656148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FC6502-38D8-43D0-A54D-D7A8B69576FD}"/>
              </a:ext>
            </a:extLst>
          </p:cNvPr>
          <p:cNvSpPr/>
          <p:nvPr/>
        </p:nvSpPr>
        <p:spPr>
          <a:xfrm>
            <a:off x="7651528" y="1927608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Global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1CD3A83A-1FE3-4D37-943E-6966B898C267}"/>
              </a:ext>
            </a:extLst>
          </p:cNvPr>
          <p:cNvSpPr/>
          <p:nvPr/>
        </p:nvSpPr>
        <p:spPr>
          <a:xfrm flipH="1">
            <a:off x="8017287" y="2785460"/>
            <a:ext cx="672527" cy="985192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2C718C-4487-4CC7-83F8-72A7A61FBB65}"/>
              </a:ext>
            </a:extLst>
          </p:cNvPr>
          <p:cNvSpPr/>
          <p:nvPr/>
        </p:nvSpPr>
        <p:spPr>
          <a:xfrm>
            <a:off x="8689814" y="3243320"/>
            <a:ext cx="2684206" cy="855406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Local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A55381-03D0-4DB3-A1E2-922A8A625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1682" cy="3257125"/>
          </a:xfrm>
        </p:spPr>
        <p:txBody>
          <a:bodyPr>
            <a:normAutofit/>
          </a:bodyPr>
          <a:lstStyle/>
          <a:p>
            <a:r>
              <a:rPr lang="en-US" b="1" dirty="0"/>
              <a:t>Global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8F56D-5976-4F8E-A8DB-F83D8614CAA6}"/>
              </a:ext>
            </a:extLst>
          </p:cNvPr>
          <p:cNvSpPr txBox="1"/>
          <p:nvPr/>
        </p:nvSpPr>
        <p:spPr>
          <a:xfrm>
            <a:off x="833262" y="2592774"/>
            <a:ext cx="512512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my_function():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name = ‘Mohamad’   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print(name)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= ‘Rebecca’</a:t>
            </a:r>
          </a:p>
          <a:p>
            <a:endParaRPr lang="en-US" sz="28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7BBE2D-60FD-4AE0-BF2C-545E6FDA2265}"/>
              </a:ext>
            </a:extLst>
          </p:cNvPr>
          <p:cNvSpPr txBox="1"/>
          <p:nvPr/>
        </p:nvSpPr>
        <p:spPr>
          <a:xfrm>
            <a:off x="5369016" y="4142651"/>
            <a:ext cx="29665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FFFF"/>
                </a:solidFill>
              </a:rPr>
              <a:t>is in the global scope and is accessible inside the function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ECE47-077D-984A-A878-9647B78D6A84}"/>
              </a:ext>
            </a:extLst>
          </p:cNvPr>
          <p:cNvSpPr txBox="1"/>
          <p:nvPr/>
        </p:nvSpPr>
        <p:spPr>
          <a:xfrm>
            <a:off x="809965" y="6074136"/>
            <a:ext cx="4122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OUTPUT: Mohamad</a:t>
            </a:r>
          </a:p>
        </p:txBody>
      </p:sp>
    </p:spTree>
    <p:extLst>
      <p:ext uri="{BB962C8B-B14F-4D97-AF65-F5344CB8AC3E}">
        <p14:creationId xmlns:p14="http://schemas.microsoft.com/office/powerpoint/2010/main" val="163144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Immutable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853333"/>
            <a:ext cx="7086600" cy="4835479"/>
          </a:xfrm>
        </p:spPr>
        <p:txBody>
          <a:bodyPr/>
          <a:lstStyle/>
          <a:p>
            <a:r>
              <a:rPr lang="en-US" dirty="0"/>
              <a:t>When you pass an </a:t>
            </a:r>
            <a:r>
              <a:rPr lang="en-US" dirty="0">
                <a:solidFill>
                  <a:schemeClr val="accent6"/>
                </a:solidFill>
              </a:rPr>
              <a:t>int</a:t>
            </a:r>
            <a:r>
              <a:rPr lang="en-US" dirty="0"/>
              <a:t> to a function, the function gets a reference to the </a:t>
            </a:r>
            <a:r>
              <a:rPr lang="en-US" dirty="0">
                <a:solidFill>
                  <a:schemeClr val="accent6"/>
                </a:solidFill>
              </a:rPr>
              <a:t>int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References where it’s stored in memory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If the function modifies the </a:t>
            </a:r>
            <a:r>
              <a:rPr lang="en-US" dirty="0">
                <a:solidFill>
                  <a:schemeClr val="accent6"/>
                </a:solidFill>
              </a:rPr>
              <a:t>int</a:t>
            </a:r>
            <a:r>
              <a:rPr lang="en-US" dirty="0"/>
              <a:t> object, then the change is not reflected at the global scope level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8ADE88-5D8B-2040-A947-129C3554BED0}"/>
              </a:ext>
            </a:extLst>
          </p:cNvPr>
          <p:cNvSpPr/>
          <p:nvPr/>
        </p:nvSpPr>
        <p:spPr>
          <a:xfrm>
            <a:off x="8008147" y="2104130"/>
            <a:ext cx="38444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def zero(x):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x = 0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return x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x = 1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x_new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zero(x)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x_new</a:t>
            </a: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0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print(x)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157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Mutable Type (Aliasing)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When you pass a list (or other mutable types) to a function, the function gets a reference to the list</a:t>
            </a:r>
          </a:p>
          <a:p>
            <a:r>
              <a:rPr lang="en-US" sz="2400" dirty="0"/>
              <a:t>If the function modifies the list parameter, then that change is reflected at the global scope level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0631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50DD44-1C2A-9E4C-96BC-E10CD1FCF97B}"/>
              </a:ext>
            </a:extLst>
          </p:cNvPr>
          <p:cNvSpPr/>
          <p:nvPr/>
        </p:nvSpPr>
        <p:spPr>
          <a:xfrm>
            <a:off x="1478850" y="1720840"/>
            <a:ext cx="98367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def zero(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(list)-&gt; None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changes all elements of </a:t>
            </a:r>
            <a:r>
              <a:rPr lang="en-US" dirty="0" err="1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zero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i in range(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len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)):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#i becomes indices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endParaRPr lang="en-US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[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 = 0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#set each index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0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A57F9-075D-011B-551A-A344434E303B}"/>
              </a:ext>
            </a:extLst>
          </p:cNvPr>
          <p:cNvSpPr txBox="1"/>
          <p:nvPr/>
        </p:nvSpPr>
        <p:spPr>
          <a:xfrm>
            <a:off x="1478850" y="4843205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[0, 1, 2, 3, 4]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zero(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[0, 0, 0, 0, 0]</a:t>
            </a:r>
          </a:p>
        </p:txBody>
      </p:sp>
    </p:spTree>
    <p:extLst>
      <p:ext uri="{BB962C8B-B14F-4D97-AF65-F5344CB8AC3E}">
        <p14:creationId xmlns:p14="http://schemas.microsoft.com/office/powerpoint/2010/main" val="244304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D074-6A84-7BC0-4264-B9351ED5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DCC1F9-16F5-C0B3-0288-C5483AD59AB0}"/>
              </a:ext>
            </a:extLst>
          </p:cNvPr>
          <p:cNvSpPr/>
          <p:nvPr/>
        </p:nvSpPr>
        <p:spPr>
          <a:xfrm>
            <a:off x="1478850" y="1720840"/>
            <a:ext cx="98367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def zero(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(list)-&gt; None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changes all elements of </a:t>
            </a:r>
            <a:r>
              <a:rPr lang="en-US" dirty="0" err="1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zero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i in range(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len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)):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#i becomes indices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endParaRPr lang="en-US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[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 = 0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#set each index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0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B4AED-841A-608A-A026-DB34486B67F2}"/>
              </a:ext>
            </a:extLst>
          </p:cNvPr>
          <p:cNvSpPr txBox="1"/>
          <p:nvPr/>
        </p:nvSpPr>
        <p:spPr>
          <a:xfrm>
            <a:off x="1478850" y="4843205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[0, 1, 2, 3, 4]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zero(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[0, 0, 0, 0, 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C3D065-789B-8AA9-AAC3-A8186135CECA}"/>
              </a:ext>
            </a:extLst>
          </p:cNvPr>
          <p:cNvSpPr/>
          <p:nvPr/>
        </p:nvSpPr>
        <p:spPr>
          <a:xfrm>
            <a:off x="8682318" y="745933"/>
            <a:ext cx="3087499" cy="2308324"/>
          </a:xfrm>
          <a:prstGeom prst="rect">
            <a:avLst/>
          </a:prstGeom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This can be avoided by ensuring the </a:t>
            </a:r>
            <a:r>
              <a:rPr lang="en-US" altLang="zh-CN" dirty="0" err="1">
                <a:solidFill>
                  <a:srgbClr val="FFFF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new_list</a:t>
            </a:r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 does not reference to the original </a:t>
            </a:r>
            <a:r>
              <a:rPr lang="en-US" altLang="zh-CN" dirty="0" err="1">
                <a:solidFill>
                  <a:srgbClr val="FFFF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some_list</a:t>
            </a:r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 object</a:t>
            </a:r>
          </a:p>
          <a:p>
            <a:endParaRPr lang="en-US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How can we do this?</a:t>
            </a:r>
          </a:p>
          <a:p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new_list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 = </a:t>
            </a:r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some_list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[:]</a:t>
            </a:r>
          </a:p>
          <a:p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new_list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 = list(</a:t>
            </a:r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some_list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3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50BA-FAF0-949D-BF99-6A0B58A0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28413C-752A-9222-7E31-CA3D97E53032}"/>
              </a:ext>
            </a:extLst>
          </p:cNvPr>
          <p:cNvSpPr/>
          <p:nvPr/>
        </p:nvSpPr>
        <p:spPr>
          <a:xfrm>
            <a:off x="1478850" y="1720840"/>
            <a:ext cx="98367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def zero(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(list)-&gt; None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changes all elements of </a:t>
            </a:r>
            <a:r>
              <a:rPr lang="en-US" dirty="0" err="1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zero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’’’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rgbClr val="00FF00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MS Mincho" panose="02020609040205080304" pitchFamily="49" charset="-128"/>
              </a:rPr>
              <a:t>[:]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for i in range(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len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)):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#i becomes indices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endParaRPr lang="en-US" dirty="0">
              <a:solidFill>
                <a:schemeClr val="accent6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new_list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[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i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] = 0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#set each index of </a:t>
            </a:r>
            <a:r>
              <a:rPr lang="en-US" dirty="0" err="1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some_list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to 0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20705-EBFF-E7C1-2E3C-BC3687ABDD14}"/>
              </a:ext>
            </a:extLst>
          </p:cNvPr>
          <p:cNvSpPr txBox="1"/>
          <p:nvPr/>
        </p:nvSpPr>
        <p:spPr>
          <a:xfrm>
            <a:off x="1478850" y="4843205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= [0, 1, 2, 3, 4]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zero(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my_list</a:t>
            </a:r>
            <a:r>
              <a:rPr lang="en-US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FF00"/>
                </a:solidFill>
                <a:highlight>
                  <a:srgbClr val="FF00FF"/>
                </a:highlight>
                <a:latin typeface="Courier New" panose="02070309020205020404" pitchFamily="49" charset="0"/>
                <a:ea typeface="MS Mincho" panose="02020609040205080304" pitchFamily="49" charset="-128"/>
              </a:rPr>
              <a:t>[0, 1, 2, 3, 4]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33922-646B-4A93-979D-6BA5D5ED4148}"/>
              </a:ext>
            </a:extLst>
          </p:cNvPr>
          <p:cNvSpPr/>
          <p:nvPr/>
        </p:nvSpPr>
        <p:spPr>
          <a:xfrm>
            <a:off x="8682318" y="745933"/>
            <a:ext cx="3087499" cy="2308324"/>
          </a:xfrm>
          <a:prstGeom prst="rect">
            <a:avLst/>
          </a:prstGeom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This can be avoided by ensuring the </a:t>
            </a:r>
            <a:r>
              <a:rPr lang="en-US" altLang="zh-CN" dirty="0" err="1">
                <a:solidFill>
                  <a:srgbClr val="FFFF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new_list</a:t>
            </a:r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 does not reference to the original </a:t>
            </a:r>
            <a:r>
              <a:rPr lang="en-US" altLang="zh-CN" dirty="0" err="1">
                <a:solidFill>
                  <a:srgbClr val="FFFF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some_list</a:t>
            </a:r>
            <a:r>
              <a:rPr lang="en-US" altLang="zh-CN" dirty="0">
                <a:solidFill>
                  <a:srgbClr val="FFFFFF"/>
                </a:solidFill>
                <a:ea typeface="宋体" panose="02010600030101010101" pitchFamily="2" charset="-122"/>
              </a:rPr>
              <a:t> object</a:t>
            </a:r>
          </a:p>
          <a:p>
            <a:endParaRPr lang="en-US" dirty="0">
              <a:solidFill>
                <a:srgbClr val="FFFFFF"/>
              </a:solidFill>
              <a:ea typeface="宋体" panose="02010600030101010101" pitchFamily="2" charset="-122"/>
            </a:endParaRPr>
          </a:p>
          <a:p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How can we do this?</a:t>
            </a:r>
          </a:p>
          <a:p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new_list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 = </a:t>
            </a:r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some_list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[:]</a:t>
            </a:r>
          </a:p>
          <a:p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new_list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 = list(</a:t>
            </a:r>
            <a:r>
              <a:rPr lang="en-US" dirty="0" err="1">
                <a:solidFill>
                  <a:srgbClr val="FFFF00"/>
                </a:solidFill>
                <a:ea typeface="宋体" panose="02010600030101010101" pitchFamily="2" charset="-122"/>
              </a:rPr>
              <a:t>some_list</a:t>
            </a:r>
            <a:r>
              <a:rPr lang="en-US" dirty="0">
                <a:solidFill>
                  <a:srgbClr val="FFFF00"/>
                </a:solidFill>
                <a:ea typeface="宋体" panose="02010600030101010101" pitchFamily="2" charset="-122"/>
              </a:rPr>
              <a:t>)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57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F2-87C7-DA47-91C7-1F3842EB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Visualizer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F3C4-C09D-BB4F-98E3-9D50BB19C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see how it looks in a visualizer!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https://tinyurl.com/aps106aliaslist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</p:txBody>
      </p:sp>
      <p:pic>
        <p:nvPicPr>
          <p:cNvPr id="1026" name="Picture 2" descr="It's an Alias - Dr Evil Austin Powers | Make a Meme">
            <a:extLst>
              <a:ext uri="{FF2B5EF4-FFF2-40B4-BE49-F238E27FC236}">
                <a16:creationId xmlns:a16="http://schemas.microsoft.com/office/drawing/2014/main" id="{1A52C1B3-8795-33B0-D095-30FBB952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60" y="3174712"/>
            <a:ext cx="4700000" cy="313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70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US" dirty="0"/>
              <a:t>Mutation</a:t>
            </a:r>
          </a:p>
          <a:p>
            <a:pPr lvl="2"/>
            <a:r>
              <a:rPr lang="en-US" dirty="0"/>
              <a:t>Modification of an object</a:t>
            </a:r>
          </a:p>
          <a:p>
            <a:pPr lvl="1"/>
            <a:r>
              <a:rPr lang="en-US" dirty="0"/>
              <a:t>Mutable vs Immutable</a:t>
            </a:r>
          </a:p>
          <a:p>
            <a:pPr lvl="2"/>
            <a:r>
              <a:rPr lang="en-US" dirty="0"/>
              <a:t>Can be mutated/modified</a:t>
            </a:r>
          </a:p>
          <a:p>
            <a:pPr lvl="1"/>
            <a:r>
              <a:rPr lang="en-US" dirty="0"/>
              <a:t>Aliasing</a:t>
            </a:r>
          </a:p>
          <a:p>
            <a:pPr lvl="2"/>
            <a:r>
              <a:rPr lang="en-US" dirty="0"/>
              <a:t>Two variables are referring to the same object in memory</a:t>
            </a:r>
          </a:p>
          <a:p>
            <a:pPr lvl="2"/>
            <a:r>
              <a:rPr lang="en-US" dirty="0"/>
              <a:t>Mutation through one variable affects the other variables</a:t>
            </a:r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More on Mutability and Aliasing</a:t>
            </a:r>
          </a:p>
        </p:txBody>
      </p:sp>
    </p:spTree>
    <p:extLst>
      <p:ext uri="{BB962C8B-B14F-4D97-AF65-F5344CB8AC3E}">
        <p14:creationId xmlns:p14="http://schemas.microsoft.com/office/powerpoint/2010/main" val="3663825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310-910C-4BA5-A20E-AB369737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Let’s Recap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E29CA-6C02-44B9-BA97-A472C552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</p:spPr>
        <p:txBody>
          <a:bodyPr>
            <a:normAutofit/>
          </a:bodyPr>
          <a:lstStyle/>
          <a:p>
            <a:r>
              <a:rPr lang="en-US" sz="3200" dirty="0"/>
              <a:t>The general form of a function call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Terminology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argument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 value given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pass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to provide an argument to a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call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ask Python to execute a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by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i="1" dirty="0">
                <a:solidFill>
                  <a:schemeClr val="accent6"/>
                </a:solidFill>
              </a:rPr>
              <a:t>return</a:t>
            </a:r>
            <a:r>
              <a:rPr lang="en-US" dirty="0">
                <a:solidFill>
                  <a:schemeClr val="accent2"/>
                </a:solidFill>
              </a:rPr>
              <a:t>:</a:t>
            </a:r>
            <a:r>
              <a:rPr lang="en-US" dirty="0"/>
              <a:t> give a value back to where the function was called from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D1CD2-F639-4E50-AF59-FB755AA99606}"/>
              </a:ext>
            </a:extLst>
          </p:cNvPr>
          <p:cNvSpPr txBox="1"/>
          <p:nvPr/>
        </p:nvSpPr>
        <p:spPr>
          <a:xfrm>
            <a:off x="1070811" y="2899611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36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8564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24937" cy="483547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general form of a function definition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def</a:t>
            </a:r>
            <a:r>
              <a:rPr lang="en-US" dirty="0"/>
              <a:t> is a keyword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standing for </a:t>
            </a:r>
            <a:r>
              <a:rPr lang="en-US" b="1" dirty="0">
                <a:solidFill>
                  <a:schemeClr val="accent6"/>
                </a:solidFill>
              </a:rPr>
              <a:t>definition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All function definitions must begin with def. The def statement must end with a colon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function_name </a:t>
            </a:r>
            <a:r>
              <a:rPr lang="en-US" dirty="0"/>
              <a:t>is the name you will use to call the function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like sin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abs but you need to create your own name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parameters</a:t>
            </a:r>
            <a:r>
              <a:rPr lang="en-US" dirty="0"/>
              <a:t> are the variables that get values when you call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You can have 0 or more parameters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separated by commas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Must be in parenthesis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body</a:t>
            </a:r>
            <a:r>
              <a:rPr lang="en-US" dirty="0"/>
              <a:t> is a sequence of commands like we've already seen 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/>
              <a:t>assignment, multiplication, function calls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b="1" dirty="0">
                <a:solidFill>
                  <a:schemeClr val="accent2"/>
                </a:solidFill>
              </a:rPr>
              <a:t>Important</a:t>
            </a:r>
            <a:r>
              <a:rPr lang="en-US" b="1" dirty="0">
                <a:solidFill>
                  <a:schemeClr val="accent3"/>
                </a:solidFill>
              </a:rPr>
              <a:t>:</a:t>
            </a:r>
            <a:r>
              <a:rPr lang="en-US" b="1" dirty="0"/>
              <a:t> </a:t>
            </a:r>
            <a:r>
              <a:rPr lang="en-US" dirty="0"/>
              <a:t>all the lines of body must be </a:t>
            </a:r>
            <a:r>
              <a:rPr lang="en-US" dirty="0">
                <a:solidFill>
                  <a:schemeClr val="accent6"/>
                </a:solidFill>
              </a:rPr>
              <a:t>indented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That is how Python knows that they are part of the function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1060186" y="2332351"/>
            <a:ext cx="57150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(parameters):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323C-2FFA-4040-B623-0EE9D4B14E9C}"/>
              </a:ext>
            </a:extLst>
          </p:cNvPr>
          <p:cNvSpPr txBox="1"/>
          <p:nvPr/>
        </p:nvSpPr>
        <p:spPr>
          <a:xfrm>
            <a:off x="183797" y="2733856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0F715C-9486-40B7-9A63-6451D66A51DD}"/>
              </a:ext>
            </a:extLst>
          </p:cNvPr>
          <p:cNvSpPr/>
          <p:nvPr/>
        </p:nvSpPr>
        <p:spPr>
          <a:xfrm>
            <a:off x="1120345" y="2846335"/>
            <a:ext cx="618308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87857-F0AB-4311-A958-03F4FCAC74A9}"/>
              </a:ext>
            </a:extLst>
          </p:cNvPr>
          <p:cNvSpPr txBox="1"/>
          <p:nvPr/>
        </p:nvSpPr>
        <p:spPr>
          <a:xfrm>
            <a:off x="7820526" y="2388586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5E9A7-4256-460A-8761-796AD25700C5}"/>
              </a:ext>
            </a:extLst>
          </p:cNvPr>
          <p:cNvSpPr/>
          <p:nvPr/>
        </p:nvSpPr>
        <p:spPr>
          <a:xfrm flipH="1">
            <a:off x="6641001" y="2436713"/>
            <a:ext cx="1155465" cy="273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Bent-Up 1">
            <a:extLst>
              <a:ext uri="{FF2B5EF4-FFF2-40B4-BE49-F238E27FC236}">
                <a16:creationId xmlns:a16="http://schemas.microsoft.com/office/drawing/2014/main" id="{43CCD9E7-9F15-4C50-B85A-529554B7326A}"/>
              </a:ext>
            </a:extLst>
          </p:cNvPr>
          <p:cNvSpPr/>
          <p:nvPr/>
        </p:nvSpPr>
        <p:spPr>
          <a:xfrm flipH="1">
            <a:off x="5197928" y="2729933"/>
            <a:ext cx="2886146" cy="469947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A5DD2-2ED2-42DC-A5F5-D6EB550ABE57}"/>
              </a:ext>
            </a:extLst>
          </p:cNvPr>
          <p:cNvSpPr txBox="1"/>
          <p:nvPr/>
        </p:nvSpPr>
        <p:spPr>
          <a:xfrm>
            <a:off x="8109708" y="2952874"/>
            <a:ext cx="332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(parameter1, parameter2, …)</a:t>
            </a:r>
          </a:p>
        </p:txBody>
      </p:sp>
    </p:spTree>
    <p:extLst>
      <p:ext uri="{BB962C8B-B14F-4D97-AF65-F5344CB8AC3E}">
        <p14:creationId xmlns:p14="http://schemas.microsoft.com/office/powerpoint/2010/main" val="4255690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130260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1168990" y="4065471"/>
            <a:ext cx="66287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(parameters):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2323C-2FFA-4040-B623-0EE9D4B14E9C}"/>
              </a:ext>
            </a:extLst>
          </p:cNvPr>
          <p:cNvSpPr txBox="1"/>
          <p:nvPr/>
        </p:nvSpPr>
        <p:spPr>
          <a:xfrm>
            <a:off x="355088" y="456462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Indent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0F715C-9486-40B7-9A63-6451D66A51DD}"/>
              </a:ext>
            </a:extLst>
          </p:cNvPr>
          <p:cNvSpPr/>
          <p:nvPr/>
        </p:nvSpPr>
        <p:spPr>
          <a:xfrm>
            <a:off x="1291636" y="4677107"/>
            <a:ext cx="618308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87857-F0AB-4311-A958-03F4FCAC74A9}"/>
              </a:ext>
            </a:extLst>
          </p:cNvPr>
          <p:cNvSpPr txBox="1"/>
          <p:nvPr/>
        </p:nvSpPr>
        <p:spPr>
          <a:xfrm>
            <a:off x="7124162" y="263935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Colon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5E9A7-4256-460A-8761-796AD25700C5}"/>
              </a:ext>
            </a:extLst>
          </p:cNvPr>
          <p:cNvSpPr/>
          <p:nvPr/>
        </p:nvSpPr>
        <p:spPr>
          <a:xfrm rot="16200000" flipH="1">
            <a:off x="6942358" y="3445213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9617A-CEF8-4ADD-B763-0669DABE071A}"/>
              </a:ext>
            </a:extLst>
          </p:cNvPr>
          <p:cNvSpPr txBox="1"/>
          <p:nvPr/>
        </p:nvSpPr>
        <p:spPr>
          <a:xfrm>
            <a:off x="990853" y="251682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Definition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840CED-EE2F-440E-96FA-9E37C87732A2}"/>
              </a:ext>
            </a:extLst>
          </p:cNvPr>
          <p:cNvSpPr/>
          <p:nvPr/>
        </p:nvSpPr>
        <p:spPr>
          <a:xfrm rot="16200000" flipH="1">
            <a:off x="1049685" y="3322680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7D2B7045-1DA7-4134-8766-FEE26F01A905}"/>
              </a:ext>
            </a:extLst>
          </p:cNvPr>
          <p:cNvSpPr/>
          <p:nvPr/>
        </p:nvSpPr>
        <p:spPr>
          <a:xfrm>
            <a:off x="4296208" y="4571039"/>
            <a:ext cx="2589665" cy="1004617"/>
          </a:xfrm>
          <a:prstGeom prst="bentUpArrow">
            <a:avLst>
              <a:gd name="adj1" fmla="val 14745"/>
              <a:gd name="adj2" fmla="val 17675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0CD0EB-7997-4DF1-9EAA-A66C9B1A3AEA}"/>
              </a:ext>
            </a:extLst>
          </p:cNvPr>
          <p:cNvSpPr txBox="1"/>
          <p:nvPr/>
        </p:nvSpPr>
        <p:spPr>
          <a:xfrm>
            <a:off x="885079" y="5276874"/>
            <a:ext cx="332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(parameter1, parameter2, …)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D5C05D-8F60-4E0A-A782-BE83C295388E}"/>
              </a:ext>
            </a:extLst>
          </p:cNvPr>
          <p:cNvSpPr txBox="1"/>
          <p:nvPr/>
        </p:nvSpPr>
        <p:spPr>
          <a:xfrm>
            <a:off x="3563197" y="2522830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Function Name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37CE59F-6893-4F72-85BB-211646130AAE}"/>
              </a:ext>
            </a:extLst>
          </p:cNvPr>
          <p:cNvSpPr/>
          <p:nvPr/>
        </p:nvSpPr>
        <p:spPr>
          <a:xfrm rot="16200000" flipH="1">
            <a:off x="3910791" y="3328686"/>
            <a:ext cx="1167063" cy="318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873CB-5178-8648-B466-910301A255AE}"/>
              </a:ext>
            </a:extLst>
          </p:cNvPr>
          <p:cNvSpPr txBox="1"/>
          <p:nvPr/>
        </p:nvSpPr>
        <p:spPr>
          <a:xfrm>
            <a:off x="6833943" y="5960919"/>
            <a:ext cx="5568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function_name(arguments)</a:t>
            </a:r>
            <a:endParaRPr lang="en-US" sz="28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11794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AE28-3F82-771A-FF04-FBDBBC32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Parameters are Local!</a:t>
            </a:r>
          </a:p>
        </p:txBody>
      </p:sp>
      <p:pic>
        <p:nvPicPr>
          <p:cNvPr id="5" name="Picture 4" descr="The image depicts a simple function in a programming language (likely Pascal or a similar language) that doubles a given number, returning the new value, while the original number remains unchanged.&#10;&#10;AI-generated content may be incorrect.">
            <a:extLst>
              <a:ext uri="{FF2B5EF4-FFF2-40B4-BE49-F238E27FC236}">
                <a16:creationId xmlns:a16="http://schemas.microsoft.com/office/drawing/2014/main" id="{EEB5DE81-C5B8-B5C2-62A7-5C4CA39E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2195292"/>
            <a:ext cx="10002646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68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3E74-7F7F-FD47-A08A-3ECBA706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Functions: Default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354B-BC63-C24B-A377-CEF5771DE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working with certain functions, such as range and print, you do not need to pass an argument for every parameter</a:t>
            </a:r>
          </a:p>
          <a:p>
            <a:pPr lvl="1"/>
            <a:r>
              <a:rPr lang="en-US" dirty="0"/>
              <a:t>If no parameter is passed, the default parameter values will be used</a:t>
            </a:r>
          </a:p>
          <a:p>
            <a:r>
              <a:rPr lang="en-US" dirty="0"/>
              <a:t>For 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A22AD2-BD01-E14C-A214-4755D4D5D39E}"/>
              </a:ext>
            </a:extLst>
          </p:cNvPr>
          <p:cNvSpPr/>
          <p:nvPr/>
        </p:nvSpPr>
        <p:spPr>
          <a:xfrm>
            <a:off x="2019099" y="4289583"/>
            <a:ext cx="2743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range(2, 5)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range(2, 5)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range(10)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range(0, 10)</a:t>
            </a:r>
            <a:endParaRPr lang="en-US" sz="2000" b="1" dirty="0">
              <a:solidFill>
                <a:srgbClr val="00FF00"/>
              </a:solidFill>
              <a:effectLst/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78DC4-1475-1840-980A-BD9C3D5F2A22}"/>
              </a:ext>
            </a:extLst>
          </p:cNvPr>
          <p:cNvSpPr/>
          <p:nvPr/>
        </p:nvSpPr>
        <p:spPr>
          <a:xfrm>
            <a:off x="4759841" y="4283148"/>
            <a:ext cx="57149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print("hello", "world", </a:t>
            </a:r>
            <a:r>
              <a:rPr lang="en-US" sz="2000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sep</a:t>
            </a: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='')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helloworld</a:t>
            </a: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print("hello", "world")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hello world</a:t>
            </a:r>
            <a:endParaRPr lang="en-US" sz="20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787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2340-682B-9145-A485-F362752F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Default Values of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0DEF-9911-DA44-8DF7-38828609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Take a closer look at the print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 we see that print has several parameters</a:t>
            </a:r>
          </a:p>
          <a:p>
            <a:pPr lvl="1"/>
            <a:r>
              <a:rPr lang="en-US" b="1" dirty="0">
                <a:solidFill>
                  <a:srgbClr val="00FF00"/>
                </a:solidFill>
              </a:rPr>
              <a:t>value</a:t>
            </a:r>
            <a:r>
              <a:rPr lang="en-US" b="1" dirty="0"/>
              <a:t>, ...,</a:t>
            </a:r>
            <a:r>
              <a:rPr lang="en-US" dirty="0"/>
              <a:t>: the values to be printed.</a:t>
            </a:r>
          </a:p>
          <a:p>
            <a:pPr lvl="1"/>
            <a:r>
              <a:rPr lang="en-US" b="1" dirty="0" err="1">
                <a:solidFill>
                  <a:srgbClr val="00FF00"/>
                </a:solidFill>
              </a:rPr>
              <a:t>sep</a:t>
            </a:r>
            <a:r>
              <a:rPr lang="en-US" b="1" dirty="0"/>
              <a:t>=' '</a:t>
            </a:r>
            <a:r>
              <a:rPr lang="en-US" dirty="0"/>
              <a:t>: an optional argument that by default will be a space. When multiple values are printed, this string will be printed between pairs of values.</a:t>
            </a:r>
          </a:p>
          <a:p>
            <a:pPr lvl="1"/>
            <a:r>
              <a:rPr lang="en-US" b="1" dirty="0">
                <a:solidFill>
                  <a:srgbClr val="00FF00"/>
                </a:solidFill>
              </a:rPr>
              <a:t>end</a:t>
            </a:r>
            <a:r>
              <a:rPr lang="en-US" b="1" dirty="0"/>
              <a:t>='\n'</a:t>
            </a:r>
            <a:r>
              <a:rPr lang="en-US" dirty="0"/>
              <a:t>: an optional argument that by default will be a newline character. This string is printed after the last value.</a:t>
            </a:r>
          </a:p>
          <a:p>
            <a:pPr lvl="1"/>
            <a:r>
              <a:rPr lang="en-US" b="1" dirty="0">
                <a:solidFill>
                  <a:srgbClr val="00FF00"/>
                </a:solidFill>
              </a:rPr>
              <a:t>file</a:t>
            </a:r>
            <a:r>
              <a:rPr lang="en-US" dirty="0"/>
              <a:t>: an optional argument that by default is </a:t>
            </a:r>
            <a:r>
              <a:rPr lang="en-US" dirty="0" err="1"/>
              <a:t>sys.stdout</a:t>
            </a:r>
            <a:r>
              <a:rPr lang="en-US" dirty="0"/>
              <a:t>, which specifies where to print.</a:t>
            </a:r>
            <a:endParaRPr lang="en-US" altLang="zh-CN" sz="3600" dirty="0">
              <a:ea typeface="宋体" panose="02010600030101010101" pitchFamily="2" charset="-122"/>
            </a:endParaRP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B4E0FA-F333-5C41-BFE0-826F545F5948}"/>
              </a:ext>
            </a:extLst>
          </p:cNvPr>
          <p:cNvSpPr/>
          <p:nvPr/>
        </p:nvSpPr>
        <p:spPr>
          <a:xfrm>
            <a:off x="2289860" y="2287772"/>
            <a:ext cx="82977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help(print)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Help on built-in function print in module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builtins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print(...)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print(value, ...,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sep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=' ', end='\n', file=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sys.stdout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74102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9150-95D1-7F4E-8FCB-1987FACE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23" y="603533"/>
            <a:ext cx="10515600" cy="65614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Examples: Default Values of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6DAF4-1CA0-FC40-986E-B3694278F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383662"/>
            <a:ext cx="11717079" cy="5277441"/>
          </a:xfrm>
        </p:spPr>
        <p:txBody>
          <a:bodyPr/>
          <a:lstStyle/>
          <a:p>
            <a:r>
              <a:rPr lang="en-US" sz="2400" dirty="0"/>
              <a:t>Let’s look at some examples of the print function </a:t>
            </a:r>
            <a:r>
              <a:rPr lang="en-US" sz="2400" dirty="0" err="1"/>
              <a:t>behaviour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 see that the newline character ‘\n’ is automatically printed after ‘123’.  We can also provide multiple values to the print function: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Let’s use print again, but this time pass arguments to override the default parameter values: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800" dirty="0"/>
          </a:p>
          <a:p>
            <a:r>
              <a:rPr lang="en-US" sz="2400" dirty="0"/>
              <a:t>Notice the order does not matter: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F3D59-95C2-4D4C-A535-8E1900864616}"/>
              </a:ext>
            </a:extLst>
          </p:cNvPr>
          <p:cNvSpPr/>
          <p:nvPr/>
        </p:nvSpPr>
        <p:spPr>
          <a:xfrm>
            <a:off x="1685498" y="1777408"/>
            <a:ext cx="2026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print(123)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print(456)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07501-D28B-FE40-9855-95B95EAF1F7C}"/>
              </a:ext>
            </a:extLst>
          </p:cNvPr>
          <p:cNvSpPr/>
          <p:nvPr/>
        </p:nvSpPr>
        <p:spPr>
          <a:xfrm>
            <a:off x="6929199" y="1777409"/>
            <a:ext cx="2026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123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456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F66B3-7626-8047-ACC7-4595A68E3A3C}"/>
              </a:ext>
            </a:extLst>
          </p:cNvPr>
          <p:cNvSpPr/>
          <p:nvPr/>
        </p:nvSpPr>
        <p:spPr>
          <a:xfrm>
            <a:off x="5121507" y="1777408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7AD11-AFF5-0244-A178-4B8FF608E5CE}"/>
              </a:ext>
            </a:extLst>
          </p:cNvPr>
          <p:cNvSpPr/>
          <p:nvPr/>
        </p:nvSpPr>
        <p:spPr>
          <a:xfrm>
            <a:off x="1685498" y="3525852"/>
            <a:ext cx="29871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print(123,456)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01E99A-F35A-7946-ADFF-1E110BD793CA}"/>
              </a:ext>
            </a:extLst>
          </p:cNvPr>
          <p:cNvSpPr/>
          <p:nvPr/>
        </p:nvSpPr>
        <p:spPr>
          <a:xfrm>
            <a:off x="5082521" y="3535325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E23A69-75E1-F04F-BE4E-089EF9031755}"/>
              </a:ext>
            </a:extLst>
          </p:cNvPr>
          <p:cNvSpPr/>
          <p:nvPr/>
        </p:nvSpPr>
        <p:spPr>
          <a:xfrm>
            <a:off x="6759078" y="3535325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123 456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F67B7E-3E95-9D45-AD3A-EB9AEE8739CE}"/>
              </a:ext>
            </a:extLst>
          </p:cNvPr>
          <p:cNvSpPr/>
          <p:nvPr/>
        </p:nvSpPr>
        <p:spPr>
          <a:xfrm>
            <a:off x="60248" y="1785991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.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py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FILE: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A4C991-5F41-C84C-93B3-ACA942A26E18}"/>
              </a:ext>
            </a:extLst>
          </p:cNvPr>
          <p:cNvSpPr/>
          <p:nvPr/>
        </p:nvSpPr>
        <p:spPr>
          <a:xfrm>
            <a:off x="1665924" y="4728882"/>
            <a:ext cx="5054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print(123,456,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sep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=‘’, end=‘!’)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print(‘cats’)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BC374-D3D3-2F4B-888D-BE410DE40417}"/>
              </a:ext>
            </a:extLst>
          </p:cNvPr>
          <p:cNvSpPr/>
          <p:nvPr/>
        </p:nvSpPr>
        <p:spPr>
          <a:xfrm>
            <a:off x="7505051" y="4662761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OUTPUT: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DA04EA-6C71-3641-B8AA-2496E58280BD}"/>
              </a:ext>
            </a:extLst>
          </p:cNvPr>
          <p:cNvSpPr/>
          <p:nvPr/>
        </p:nvSpPr>
        <p:spPr>
          <a:xfrm>
            <a:off x="9181608" y="4662761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123456!cats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DB87B-17BB-0347-8F29-1825A5E28EB5}"/>
              </a:ext>
            </a:extLst>
          </p:cNvPr>
          <p:cNvSpPr/>
          <p:nvPr/>
        </p:nvSpPr>
        <p:spPr>
          <a:xfrm>
            <a:off x="7505051" y="6069801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OUTPUT: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5161DC-1580-F94B-B4D3-6B0EF73FC982}"/>
              </a:ext>
            </a:extLst>
          </p:cNvPr>
          <p:cNvSpPr/>
          <p:nvPr/>
        </p:nvSpPr>
        <p:spPr>
          <a:xfrm>
            <a:off x="9181608" y="6069801"/>
            <a:ext cx="202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123456!cats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4A6CB6-586E-A042-AFCA-EA60B8F1FD3A}"/>
              </a:ext>
            </a:extLst>
          </p:cNvPr>
          <p:cNvSpPr/>
          <p:nvPr/>
        </p:nvSpPr>
        <p:spPr>
          <a:xfrm>
            <a:off x="1685498" y="5885745"/>
            <a:ext cx="5054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print(123,456, end=‘!’, </a:t>
            </a:r>
            <a:r>
              <a:rPr lang="en-US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sep</a:t>
            </a: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=‘’)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print(‘cats’)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CF65CE-D561-B0E3-7718-56E7BC637398}"/>
              </a:ext>
            </a:extLst>
          </p:cNvPr>
          <p:cNvSpPr/>
          <p:nvPr/>
        </p:nvSpPr>
        <p:spPr>
          <a:xfrm>
            <a:off x="276447" y="2705100"/>
            <a:ext cx="11717079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50C9D-5074-4858-517B-5528AB112C8A}"/>
              </a:ext>
            </a:extLst>
          </p:cNvPr>
          <p:cNvSpPr/>
          <p:nvPr/>
        </p:nvSpPr>
        <p:spPr>
          <a:xfrm>
            <a:off x="352647" y="3952155"/>
            <a:ext cx="11717079" cy="1423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D04B8E-8D6D-EC1B-D6AF-3486F0F47959}"/>
              </a:ext>
            </a:extLst>
          </p:cNvPr>
          <p:cNvSpPr/>
          <p:nvPr/>
        </p:nvSpPr>
        <p:spPr>
          <a:xfrm>
            <a:off x="237460" y="5321184"/>
            <a:ext cx="11717079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  <p:bldP spid="18" grpId="0"/>
      <p:bldP spid="11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1BFF-2086-884F-A850-24B91FD1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Visualizer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9B775-1C8B-1D49-B8FF-31C467DF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examples visualized!</a:t>
            </a:r>
          </a:p>
          <a:p>
            <a:pPr lvl="1"/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https://tinyurl.com/2p9c443y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</p:txBody>
      </p:sp>
      <p:pic>
        <p:nvPicPr>
          <p:cNvPr id="6146" name="Picture 2" descr="Meme Creator - Funny When you learn the print function in Python Meme  Generator at MemeCreator.org!">
            <a:extLst>
              <a:ext uri="{FF2B5EF4-FFF2-40B4-BE49-F238E27FC236}">
                <a16:creationId xmlns:a16="http://schemas.microsoft.com/office/drawing/2014/main" id="{9383DB14-B42C-D44A-886B-2CCE28EA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92" y="1383662"/>
            <a:ext cx="4342629" cy="434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581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3B58-2476-EF4E-8BBD-1C187083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630" y="3100926"/>
            <a:ext cx="8220740" cy="6561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What if we want default parameters in our custom functions? </a:t>
            </a:r>
          </a:p>
        </p:txBody>
      </p:sp>
    </p:spTree>
    <p:extLst>
      <p:ext uri="{BB962C8B-B14F-4D97-AF65-F5344CB8AC3E}">
        <p14:creationId xmlns:p14="http://schemas.microsoft.com/office/powerpoint/2010/main" val="167247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 One More Time…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130260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1168990" y="4065471"/>
            <a:ext cx="81323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(param1, param2, …):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873CB-5178-8648-B466-910301A255AE}"/>
              </a:ext>
            </a:extLst>
          </p:cNvPr>
          <p:cNvSpPr txBox="1"/>
          <p:nvPr/>
        </p:nvSpPr>
        <p:spPr>
          <a:xfrm>
            <a:off x="6603877" y="6004921"/>
            <a:ext cx="5568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function_name(arg1, arg2)</a:t>
            </a:r>
            <a:endParaRPr lang="en-US" sz="28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3573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Function Definitions One More Time…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0839139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</a:t>
            </a:r>
            <a:r>
              <a:rPr lang="en-US" dirty="0">
                <a:solidFill>
                  <a:srgbClr val="FF0000"/>
                </a:solidFill>
              </a:rPr>
              <a:t>with default values</a:t>
            </a:r>
            <a:r>
              <a:rPr lang="en-US" dirty="0"/>
              <a:t>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745039" y="4077723"/>
            <a:ext cx="102803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=val1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param2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=val2</a:t>
            </a:r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,…):</a:t>
            </a:r>
          </a:p>
          <a:p>
            <a:r>
              <a:rPr lang="en-US" sz="28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873CB-5178-8648-B466-910301A255AE}"/>
              </a:ext>
            </a:extLst>
          </p:cNvPr>
          <p:cNvSpPr txBox="1"/>
          <p:nvPr/>
        </p:nvSpPr>
        <p:spPr>
          <a:xfrm>
            <a:off x="6623243" y="6068972"/>
            <a:ext cx="5568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Courier New"/>
                <a:cs typeface="Courier New"/>
              </a:rPr>
              <a:t>function_name(arg1, arg2)</a:t>
            </a:r>
            <a:endParaRPr lang="en-US" sz="2800" dirty="0">
              <a:solidFill>
                <a:srgbClr val="00FF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28028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514"/>
            <a:ext cx="11176591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Function Definitions with Default Parameters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337" y="1825624"/>
            <a:ext cx="11389800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with default values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Assigning a value to a</a:t>
            </a:r>
            <a:r>
              <a:rPr lang="en-US" b="1" dirty="0">
                <a:solidFill>
                  <a:schemeClr val="accent6"/>
                </a:solidFill>
              </a:rPr>
              <a:t> parameter</a:t>
            </a:r>
            <a:r>
              <a:rPr lang="en-US" dirty="0"/>
              <a:t> in the function definition indicates the default value (i.e. the value to use when no argument is provided)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r>
              <a:rPr lang="en-US" dirty="0"/>
              <a:t>Using the above example, I could call </a:t>
            </a: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function_name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() </a:t>
            </a:r>
            <a:r>
              <a:rPr lang="en-US" dirty="0"/>
              <a:t>or </a:t>
            </a:r>
            <a:r>
              <a:rPr lang="en-US" dirty="0" err="1">
                <a:solidFill>
                  <a:srgbClr val="00FF00"/>
                </a:solidFill>
                <a:latin typeface="Courier" pitchFamily="2" charset="0"/>
              </a:rPr>
              <a:t>function_name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(val1, val2) </a:t>
            </a:r>
            <a:r>
              <a:rPr lang="en-US" dirty="0"/>
              <a:t>and it would be identical</a:t>
            </a:r>
          </a:p>
          <a:p>
            <a:r>
              <a:rPr lang="en-US" dirty="0"/>
              <a:t>Positional vs. keyword arguments - parameters up until now were ‘positional’</a:t>
            </a:r>
          </a:p>
          <a:p>
            <a:pPr lvl="1"/>
            <a:r>
              <a:rPr lang="en-US" dirty="0"/>
              <a:t>Positional must be defined first, order does not matter for keyword arguments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243867" y="2332351"/>
            <a:ext cx="12213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800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(parameter1=val1, parameter2=val2,…):</a:t>
            </a:r>
          </a:p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body</a:t>
            </a:r>
          </a:p>
        </p:txBody>
      </p:sp>
    </p:spTree>
    <p:extLst>
      <p:ext uri="{BB962C8B-B14F-4D97-AF65-F5344CB8AC3E}">
        <p14:creationId xmlns:p14="http://schemas.microsoft.com/office/powerpoint/2010/main" val="67260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27ED3-99BE-43B6-86FA-80909274D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7514"/>
            <a:ext cx="11176591" cy="6561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Greeting Example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9E35A8-B358-4C38-9AEE-294D8EFA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24937" cy="4835479"/>
          </a:xfrm>
        </p:spPr>
        <p:txBody>
          <a:bodyPr>
            <a:normAutofit/>
          </a:bodyPr>
          <a:lstStyle/>
          <a:p>
            <a:r>
              <a:rPr lang="en-US" dirty="0"/>
              <a:t>The general form of a function definition with default values is</a:t>
            </a:r>
            <a:r>
              <a:rPr lang="en-US" dirty="0">
                <a:solidFill>
                  <a:schemeClr val="accent2"/>
                </a:solidFill>
              </a:rPr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9B1C4-D919-469A-8797-07B7F6DC5475}"/>
              </a:ext>
            </a:extLst>
          </p:cNvPr>
          <p:cNvSpPr txBox="1"/>
          <p:nvPr/>
        </p:nvSpPr>
        <p:spPr>
          <a:xfrm>
            <a:off x="193202" y="2296641"/>
            <a:ext cx="126432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def </a:t>
            </a:r>
            <a:r>
              <a:rPr lang="en-US" sz="2800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make_greeting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(title, name, surname, </a:t>
            </a:r>
            <a:r>
              <a:rPr lang="en-US" sz="2800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formal=True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):</a:t>
            </a:r>
          </a:p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if </a:t>
            </a:r>
            <a:r>
              <a:rPr lang="en-US" sz="2800" dirty="0">
                <a:solidFill>
                  <a:schemeClr val="accent6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formal</a:t>
            </a:r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:</a:t>
            </a:r>
          </a:p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    return ("Hello " + title + " " + surname)</a:t>
            </a:r>
          </a:p>
          <a:p>
            <a:r>
              <a:rPr lang="en-US" sz="28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    return ("Hey " + name)</a:t>
            </a:r>
          </a:p>
          <a:p>
            <a:endParaRPr lang="en-US" sz="2800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sz="2400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make_greeting</a:t>
            </a: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("Mr.", “Neo”, ”Anderson"))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Hello Mr. Anderson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  <a:p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&gt;&gt;&gt; print(</a:t>
            </a:r>
            <a:r>
              <a:rPr lang="en-US" sz="2400" dirty="0" err="1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make_greeting</a:t>
            </a:r>
            <a:r>
              <a:rPr lang="en-US" sz="2400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("Mr.", “Neo”, ”Anderson", False))</a:t>
            </a: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ea typeface="MS Mincho" panose="02020609040205080304" pitchFamily="49" charset="-128"/>
              </a:rPr>
              <a:t>Hey Neo</a:t>
            </a:r>
          </a:p>
          <a:p>
            <a:endParaRPr lang="en-US" sz="2800" dirty="0">
              <a:solidFill>
                <a:srgbClr val="5B9BD5"/>
              </a:solidFill>
              <a:latin typeface="Courier New" panose="02070309020205020404" pitchFamily="49" charset="0"/>
              <a:ea typeface="MS Mincho" panose="02020609040205080304" pitchFamily="49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5FF324-0ACC-527A-3EE0-6A62D1D39532}"/>
              </a:ext>
            </a:extLst>
          </p:cNvPr>
          <p:cNvSpPr/>
          <p:nvPr/>
        </p:nvSpPr>
        <p:spPr>
          <a:xfrm>
            <a:off x="71920" y="4119937"/>
            <a:ext cx="11942870" cy="2304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4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94FA-E030-154F-AF27-21B1A7B8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Visualizer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BB589-6708-6A43-AE83-08190B56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https://tinyurl.com/7x79adcw</a:t>
            </a:r>
            <a:r>
              <a:rPr lang="en-US" dirty="0">
                <a:solidFill>
                  <a:schemeClr val="accent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8976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take a look at how this works in Python!</a:t>
            </a:r>
          </a:p>
          <a:p>
            <a:pPr lvl="1"/>
            <a:r>
              <a:rPr lang="en-CA" dirty="0"/>
              <a:t>Creating default parameters</a:t>
            </a:r>
          </a:p>
          <a:p>
            <a:pPr lvl="1"/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53841" y="1532292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Default Function Values</a:t>
            </a:r>
          </a:p>
        </p:txBody>
      </p:sp>
    </p:spTree>
    <p:extLst>
      <p:ext uri="{BB962C8B-B14F-4D97-AF65-F5344CB8AC3E}">
        <p14:creationId xmlns:p14="http://schemas.microsoft.com/office/powerpoint/2010/main" val="1943282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Functions and Aliasing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9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>
                <a:solidFill>
                  <a:schemeClr val="accent1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9</a:t>
            </a:r>
            <a:r>
              <a:rPr lang="en-US"/>
              <a:t>.</a:t>
            </a:r>
            <a:r>
              <a:rPr lang="en-US">
                <a:solidFill>
                  <a:schemeClr val="accent6"/>
                </a:solidFill>
              </a:rPr>
              <a:t>2</a:t>
            </a:r>
            <a:r>
              <a:rPr lang="en-US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814919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B403D37FB1844D87933BF6FBC5108B" ma:contentTypeVersion="10" ma:contentTypeDescription="Create a new document." ma:contentTypeScope="" ma:versionID="e6ea732da3c80041daf4b6796124c988">
  <xsd:schema xmlns:xsd="http://www.w3.org/2001/XMLSchema" xmlns:xs="http://www.w3.org/2001/XMLSchema" xmlns:p="http://schemas.microsoft.com/office/2006/metadata/properties" xmlns:ns2="a20c6504-4f80-4b4c-8fcc-d9206d3510c3" targetNamespace="http://schemas.microsoft.com/office/2006/metadata/properties" ma:root="true" ma:fieldsID="1471873bedd54fcf0337560db38d1f2d" ns2:_="">
    <xsd:import namespace="a20c6504-4f80-4b4c-8fcc-d9206d3510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0c6504-4f80-4b4c-8fcc-d9206d3510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0c6504-4f80-4b4c-8fcc-d9206d3510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8E7B4F-85EF-44BA-9A2C-B452D5B445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0c6504-4f80-4b4c-8fcc-d9206d351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11EB57-EB6E-4EB8-97F1-9BBC7E0799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8F4890-DC15-40F3-93FD-2AB8400BD1B2}">
  <ds:schemaRefs>
    <ds:schemaRef ds:uri="a20c6504-4f80-4b4c-8fcc-d9206d3510c3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25588</TotalTime>
  <Words>2335</Words>
  <Application>Microsoft Office PowerPoint</Application>
  <PresentationFormat>Widescreen</PresentationFormat>
  <Paragraphs>380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宋体</vt:lpstr>
      <vt:lpstr>Arial</vt:lpstr>
      <vt:lpstr>Calibri</vt:lpstr>
      <vt:lpstr>Courier</vt:lpstr>
      <vt:lpstr>Courier New</vt:lpstr>
      <vt:lpstr>Segoe UI</vt:lpstr>
      <vt:lpstr>Wingdings</vt:lpstr>
      <vt:lpstr>APS106_PPTX_Theme</vt:lpstr>
      <vt:lpstr>Advanced Functions and Aliasing</vt:lpstr>
      <vt:lpstr>This Week’s Content</vt:lpstr>
      <vt:lpstr>Taking functions to the next level!</vt:lpstr>
      <vt:lpstr>Aliasing</vt:lpstr>
      <vt:lpstr>Avoiding Aliasing</vt:lpstr>
      <vt:lpstr>Copying Lists and Avoiding Aliasing</vt:lpstr>
      <vt:lpstr>Checking Object Identity: Aliasing</vt:lpstr>
      <vt:lpstr>Summarizing and Revisiting Aliasing</vt:lpstr>
      <vt:lpstr>Recap: Variable Scope</vt:lpstr>
      <vt:lpstr>Variable Scope</vt:lpstr>
      <vt:lpstr>Variable Scope</vt:lpstr>
      <vt:lpstr>Variable Scope</vt:lpstr>
      <vt:lpstr>Variable Scope</vt:lpstr>
      <vt:lpstr>Variable Scope</vt:lpstr>
      <vt:lpstr>Example: Immutable Type</vt:lpstr>
      <vt:lpstr>Example: Mutable Type (Aliasing)</vt:lpstr>
      <vt:lpstr>PowerPoint Presentation</vt:lpstr>
      <vt:lpstr>PowerPoint Presentation</vt:lpstr>
      <vt:lpstr>PowerPoint Presentation</vt:lpstr>
      <vt:lpstr>Python Visualizer</vt:lpstr>
      <vt:lpstr>Let’s Code!</vt:lpstr>
      <vt:lpstr>Let’s Recap Functions</vt:lpstr>
      <vt:lpstr>Function Definitions</vt:lpstr>
      <vt:lpstr>Function Definitions</vt:lpstr>
      <vt:lpstr>Parameters are Local!</vt:lpstr>
      <vt:lpstr>Functions: Default Values</vt:lpstr>
      <vt:lpstr>Default Values of print</vt:lpstr>
      <vt:lpstr>Examples: Default Values of print</vt:lpstr>
      <vt:lpstr>Python Visualizer</vt:lpstr>
      <vt:lpstr>What if we want default parameters in our custom functions? </vt:lpstr>
      <vt:lpstr>Function Definitions One More Time…</vt:lpstr>
      <vt:lpstr>Function Definitions One More Time…</vt:lpstr>
      <vt:lpstr>Function Definitions with Default Parameters</vt:lpstr>
      <vt:lpstr>A Greeting Example</vt:lpstr>
      <vt:lpstr>Python Visualizer</vt:lpstr>
      <vt:lpstr>Let’s Code!</vt:lpstr>
      <vt:lpstr>Advanced Functions and Aliasing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Rebecca Alcock</cp:lastModifiedBy>
  <cp:revision>208</cp:revision>
  <dcterms:created xsi:type="dcterms:W3CDTF">2021-11-03T00:49:37Z</dcterms:created>
  <dcterms:modified xsi:type="dcterms:W3CDTF">2026-03-13T19:05:12Z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0x01010053B403D37FB1844D87933BF6FBC5108B</vt:lpwstr>
  </property>
</Properties>
</file>