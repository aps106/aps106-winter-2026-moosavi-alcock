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29"/>
  </p:notesMasterIdLst>
  <p:sldIdLst>
    <p:sldId id="256" r:id="rId2"/>
    <p:sldId id="706" r:id="rId3"/>
    <p:sldId id="701" r:id="rId4"/>
    <p:sldId id="567" r:id="rId5"/>
    <p:sldId id="547" r:id="rId6"/>
    <p:sldId id="548" r:id="rId7"/>
    <p:sldId id="571" r:id="rId8"/>
    <p:sldId id="562" r:id="rId9"/>
    <p:sldId id="550" r:id="rId10"/>
    <p:sldId id="569" r:id="rId11"/>
    <p:sldId id="551" r:id="rId12"/>
    <p:sldId id="552" r:id="rId13"/>
    <p:sldId id="710" r:id="rId14"/>
    <p:sldId id="711" r:id="rId15"/>
    <p:sldId id="556" r:id="rId16"/>
    <p:sldId id="557" r:id="rId17"/>
    <p:sldId id="558" r:id="rId18"/>
    <p:sldId id="559" r:id="rId19"/>
    <p:sldId id="401" r:id="rId20"/>
    <p:sldId id="560" r:id="rId21"/>
    <p:sldId id="561" r:id="rId22"/>
    <p:sldId id="703" r:id="rId23"/>
    <p:sldId id="704" r:id="rId24"/>
    <p:sldId id="707" r:id="rId25"/>
    <p:sldId id="702" r:id="rId26"/>
    <p:sldId id="708" r:id="rId27"/>
    <p:sldId id="70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FFFF"/>
    <a:srgbClr val="CC99FF"/>
    <a:srgbClr val="FF0000"/>
    <a:srgbClr val="00FCFF"/>
    <a:srgbClr val="FF00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015BAB-EF9A-4439-9404-F4869ECE3CA7}" v="7" dt="2026-03-26T19:54:23.7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75" autoAdjust="0"/>
    <p:restoredTop sz="96197"/>
  </p:normalViewPr>
  <p:slideViewPr>
    <p:cSldViewPr snapToGrid="0">
      <p:cViewPr varScale="1">
        <p:scale>
          <a:sx n="97" d="100"/>
          <a:sy n="97" d="100"/>
        </p:scale>
        <p:origin x="168" y="84"/>
      </p:cViewPr>
      <p:guideLst/>
    </p:cSldViewPr>
  </p:slideViewPr>
  <p:outlineViewPr>
    <p:cViewPr>
      <p:scale>
        <a:sx n="33" d="100"/>
        <a:sy n="33" d="100"/>
      </p:scale>
      <p:origin x="0" y="-20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becca Alcock" userId="fcc430e4-ca3d-4dc5-a31b-19580bf8d3bc" providerId="ADAL" clId="{6B73ED60-C891-490C-BB39-11F6FF357E20}"/>
    <pc:docChg chg="custSel addSld delSld modSld">
      <pc:chgData name="Rebecca Alcock" userId="fcc430e4-ca3d-4dc5-a31b-19580bf8d3bc" providerId="ADAL" clId="{6B73ED60-C891-490C-BB39-11F6FF357E20}" dt="2026-03-26T19:54:41.202" v="22" actId="478"/>
      <pc:docMkLst>
        <pc:docMk/>
      </pc:docMkLst>
      <pc:sldChg chg="addSp delSp modSp mod">
        <pc:chgData name="Rebecca Alcock" userId="fcc430e4-ca3d-4dc5-a31b-19580bf8d3bc" providerId="ADAL" clId="{6B73ED60-C891-490C-BB39-11F6FF357E20}" dt="2026-03-26T19:54:29.202" v="19" actId="207"/>
        <pc:sldMkLst>
          <pc:docMk/>
          <pc:sldMk cId="3280643257" sldId="256"/>
        </pc:sldMkLst>
        <pc:spChg chg="mod">
          <ac:chgData name="Rebecca Alcock" userId="fcc430e4-ca3d-4dc5-a31b-19580bf8d3bc" providerId="ADAL" clId="{6B73ED60-C891-490C-BB39-11F6FF357E20}" dt="2026-03-26T19:54:29.202" v="19" actId="207"/>
          <ac:spMkLst>
            <pc:docMk/>
            <pc:sldMk cId="3280643257" sldId="256"/>
            <ac:spMk id="16" creationId="{8408A44E-B98C-5F7B-47EC-CEF38AD1B82C}"/>
          </ac:spMkLst>
        </pc:spChg>
        <pc:picChg chg="del">
          <ac:chgData name="Rebecca Alcock" userId="fcc430e4-ca3d-4dc5-a31b-19580bf8d3bc" providerId="ADAL" clId="{6B73ED60-C891-490C-BB39-11F6FF357E20}" dt="2026-03-26T19:54:03.128" v="4" actId="478"/>
          <ac:picMkLst>
            <pc:docMk/>
            <pc:sldMk cId="3280643257" sldId="256"/>
            <ac:picMk id="6" creationId="{C8B30ACD-54DA-4E77-38EA-A6B2E6B2BC5A}"/>
          </ac:picMkLst>
        </pc:picChg>
        <pc:picChg chg="add mod">
          <ac:chgData name="Rebecca Alcock" userId="fcc430e4-ca3d-4dc5-a31b-19580bf8d3bc" providerId="ADAL" clId="{6B73ED60-C891-490C-BB39-11F6FF357E20}" dt="2026-03-26T19:54:06.943" v="6" actId="1076"/>
          <ac:picMkLst>
            <pc:docMk/>
            <pc:sldMk cId="3280643257" sldId="256"/>
            <ac:picMk id="1026" creationId="{50C07EC4-83BE-05F0-DCA1-C06502F85677}"/>
          </ac:picMkLst>
        </pc:picChg>
      </pc:sldChg>
      <pc:sldChg chg="del">
        <pc:chgData name="Rebecca Alcock" userId="fcc430e4-ca3d-4dc5-a31b-19580bf8d3bc" providerId="ADAL" clId="{6B73ED60-C891-490C-BB39-11F6FF357E20}" dt="2026-03-26T19:29:35.192" v="2" actId="47"/>
        <pc:sldMkLst>
          <pc:docMk/>
          <pc:sldMk cId="622050664" sldId="553"/>
        </pc:sldMkLst>
      </pc:sldChg>
      <pc:sldChg chg="del">
        <pc:chgData name="Rebecca Alcock" userId="fcc430e4-ca3d-4dc5-a31b-19580bf8d3bc" providerId="ADAL" clId="{6B73ED60-C891-490C-BB39-11F6FF357E20}" dt="2026-03-26T19:29:35.192" v="2" actId="47"/>
        <pc:sldMkLst>
          <pc:docMk/>
          <pc:sldMk cId="142902584" sldId="554"/>
        </pc:sldMkLst>
      </pc:sldChg>
      <pc:sldChg chg="delSp">
        <pc:chgData name="Rebecca Alcock" userId="fcc430e4-ca3d-4dc5-a31b-19580bf8d3bc" providerId="ADAL" clId="{6B73ED60-C891-490C-BB39-11F6FF357E20}" dt="2026-03-26T19:30:03.660" v="3" actId="478"/>
        <pc:sldMkLst>
          <pc:docMk/>
          <pc:sldMk cId="2450045976" sldId="556"/>
        </pc:sldMkLst>
        <pc:picChg chg="del">
          <ac:chgData name="Rebecca Alcock" userId="fcc430e4-ca3d-4dc5-a31b-19580bf8d3bc" providerId="ADAL" clId="{6B73ED60-C891-490C-BB39-11F6FF357E20}" dt="2026-03-26T19:30:03.660" v="3" actId="478"/>
          <ac:picMkLst>
            <pc:docMk/>
            <pc:sldMk cId="2450045976" sldId="556"/>
            <ac:picMk id="8" creationId="{900933F3-2EBD-EB43-9DE4-11F4096F2C4E}"/>
          </ac:picMkLst>
        </pc:picChg>
      </pc:sldChg>
      <pc:sldChg chg="delSp">
        <pc:chgData name="Rebecca Alcock" userId="fcc430e4-ca3d-4dc5-a31b-19580bf8d3bc" providerId="ADAL" clId="{6B73ED60-C891-490C-BB39-11F6FF357E20}" dt="2026-03-26T19:27:51.825" v="0" actId="478"/>
        <pc:sldMkLst>
          <pc:docMk/>
          <pc:sldMk cId="44384502" sldId="701"/>
        </pc:sldMkLst>
        <pc:picChg chg="del">
          <ac:chgData name="Rebecca Alcock" userId="fcc430e4-ca3d-4dc5-a31b-19580bf8d3bc" providerId="ADAL" clId="{6B73ED60-C891-490C-BB39-11F6FF357E20}" dt="2026-03-26T19:27:51.825" v="0" actId="478"/>
          <ac:picMkLst>
            <pc:docMk/>
            <pc:sldMk cId="44384502" sldId="701"/>
            <ac:picMk id="7170" creationId="{F7B22A22-64A8-B242-AD87-ABC307CD5699}"/>
          </ac:picMkLst>
        </pc:picChg>
      </pc:sldChg>
      <pc:sldChg chg="delSp mod">
        <pc:chgData name="Rebecca Alcock" userId="fcc430e4-ca3d-4dc5-a31b-19580bf8d3bc" providerId="ADAL" clId="{6B73ED60-C891-490C-BB39-11F6FF357E20}" dt="2026-03-26T19:54:41.202" v="22" actId="478"/>
        <pc:sldMkLst>
          <pc:docMk/>
          <pc:sldMk cId="3550626673" sldId="709"/>
        </pc:sldMkLst>
        <pc:spChg chg="del">
          <ac:chgData name="Rebecca Alcock" userId="fcc430e4-ca3d-4dc5-a31b-19580bf8d3bc" providerId="ADAL" clId="{6B73ED60-C891-490C-BB39-11F6FF357E20}" dt="2026-03-26T19:54:41.202" v="22" actId="478"/>
          <ac:spMkLst>
            <pc:docMk/>
            <pc:sldMk cId="3550626673" sldId="709"/>
            <ac:spMk id="14" creationId="{87C48FB7-E925-CBBE-BB8C-08240D22BC08}"/>
          </ac:spMkLst>
        </pc:spChg>
        <pc:spChg chg="del">
          <ac:chgData name="Rebecca Alcock" userId="fcc430e4-ca3d-4dc5-a31b-19580bf8d3bc" providerId="ADAL" clId="{6B73ED60-C891-490C-BB39-11F6FF357E20}" dt="2026-03-26T19:54:40.325" v="21" actId="478"/>
          <ac:spMkLst>
            <pc:docMk/>
            <pc:sldMk cId="3550626673" sldId="709"/>
            <ac:spMk id="16" creationId="{5A7C1467-7EA2-DD43-E16F-71AEE50ECAE3}"/>
          </ac:spMkLst>
        </pc:spChg>
        <pc:picChg chg="del">
          <ac:chgData name="Rebecca Alcock" userId="fcc430e4-ca3d-4dc5-a31b-19580bf8d3bc" providerId="ADAL" clId="{6B73ED60-C891-490C-BB39-11F6FF357E20}" dt="2026-03-26T19:54:37.925" v="20" actId="478"/>
          <ac:picMkLst>
            <pc:docMk/>
            <pc:sldMk cId="3550626673" sldId="709"/>
            <ac:picMk id="6" creationId="{7B47EE5E-8E4B-40DB-3E76-4702D07F05DD}"/>
          </ac:picMkLst>
        </pc:picChg>
      </pc:sldChg>
      <pc:sldChg chg="add">
        <pc:chgData name="Rebecca Alcock" userId="fcc430e4-ca3d-4dc5-a31b-19580bf8d3bc" providerId="ADAL" clId="{6B73ED60-C891-490C-BB39-11F6FF357E20}" dt="2026-03-26T19:29:29.155" v="1"/>
        <pc:sldMkLst>
          <pc:docMk/>
          <pc:sldMk cId="2758303432" sldId="710"/>
        </pc:sldMkLst>
      </pc:sldChg>
      <pc:sldChg chg="add">
        <pc:chgData name="Rebecca Alcock" userId="fcc430e4-ca3d-4dc5-a31b-19580bf8d3bc" providerId="ADAL" clId="{6B73ED60-C891-490C-BB39-11F6FF357E20}" dt="2026-03-26T19:29:29.155" v="1"/>
        <pc:sldMkLst>
          <pc:docMk/>
          <pc:sldMk cId="2416430621" sldId="7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D7D83-D401-9A49-861D-A02E2788C76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6AFEF-5B50-AD45-8E89-F62EC9932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2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764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37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203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70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05788-DAC8-78A2-BFFB-4CE026249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86F2E-4CF5-0C0E-1E7F-838A613FE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127FB-CBCB-5625-A8F1-DC0546DD6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36F35-92E2-EA9C-69F4-912CE956A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09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F638-606D-A22E-8F9F-A4A6D858E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4BAB1-A261-2102-CEA9-063F697A4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204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444445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444445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444445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444445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2756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5796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74577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7171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171717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171717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171717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171717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17171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14538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1587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34067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4484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o.blueja.io/QgC7nQLL0EOuGNh-uYL5ow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8DD6599-1078-21FF-53D5-EC286F98D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>
            <a:normAutofit/>
          </a:bodyPr>
          <a:lstStyle/>
          <a:p>
            <a:r>
              <a:rPr lang="en-US" dirty="0"/>
              <a:t>Files</a:t>
            </a:r>
            <a:r>
              <a:rPr lang="en-US" dirty="0">
                <a:solidFill>
                  <a:srgbClr val="00FF00"/>
                </a:solidFill>
              </a:rPr>
              <a:t>,</a:t>
            </a:r>
            <a:r>
              <a:rPr lang="en-US" dirty="0"/>
              <a:t> CSV</a:t>
            </a:r>
            <a:r>
              <a:rPr lang="en-US" dirty="0">
                <a:solidFill>
                  <a:srgbClr val="00FF00"/>
                </a:solidFill>
              </a:rPr>
              <a:t>s</a:t>
            </a:r>
            <a:r>
              <a:rPr lang="en-US" dirty="0"/>
              <a:t> and Modules</a:t>
            </a:r>
            <a:r>
              <a:rPr lang="en-US" dirty="0">
                <a:solidFill>
                  <a:srgbClr val="00FF00"/>
                </a:solidFill>
              </a:rPr>
              <a:t>.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B83CCEC-A352-4B88-CC38-5766D0F6D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11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11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5D3A53-C141-ACFD-5C8E-67E69B865858}"/>
              </a:ext>
            </a:extLst>
          </p:cNvPr>
          <p:cNvSpPr txBox="1"/>
          <p:nvPr/>
        </p:nvSpPr>
        <p:spPr>
          <a:xfrm>
            <a:off x="8883867" y="2067831"/>
            <a:ext cx="2990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>
                <a:solidFill>
                  <a:srgbClr val="FFFFFF"/>
                </a:solidFill>
              </a:rPr>
              <a:t>Course Evaluations</a:t>
            </a:r>
            <a:r>
              <a:rPr lang="en-CA" sz="2400" b="1" dirty="0">
                <a:solidFill>
                  <a:srgbClr val="00FF00"/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8A44E-B98C-5F7B-47EC-CEF38AD1B82C}"/>
              </a:ext>
            </a:extLst>
          </p:cNvPr>
          <p:cNvSpPr txBox="1"/>
          <p:nvPr/>
        </p:nvSpPr>
        <p:spPr>
          <a:xfrm>
            <a:off x="8883867" y="2482584"/>
            <a:ext cx="296588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FF00"/>
                </a:solidFill>
              </a:rPr>
              <a:t>Help us debug this course</a:t>
            </a:r>
            <a:r>
              <a:rPr lang="en-US" i="1" dirty="0">
                <a:solidFill>
                  <a:srgbClr val="FFFFFF"/>
                </a:solidFill>
              </a:rPr>
              <a:t>.</a:t>
            </a:r>
          </a:p>
          <a:p>
            <a:endParaRPr lang="en-US" i="1" dirty="0">
              <a:solidFill>
                <a:srgbClr val="FFFFFF"/>
              </a:solidFill>
            </a:endParaRPr>
          </a:p>
          <a:p>
            <a:endParaRPr lang="en-US" i="1" dirty="0">
              <a:solidFill>
                <a:srgbClr val="FFFFFF"/>
              </a:solidFill>
            </a:endParaRPr>
          </a:p>
          <a:p>
            <a:endParaRPr lang="en-US" i="1" dirty="0">
              <a:solidFill>
                <a:srgbClr val="FFFFFF"/>
              </a:solidFill>
            </a:endParaRPr>
          </a:p>
          <a:p>
            <a:endParaRPr lang="en-US" i="1" dirty="0">
              <a:solidFill>
                <a:srgbClr val="FFFFFF"/>
              </a:solidFill>
            </a:endParaRPr>
          </a:p>
          <a:p>
            <a:endParaRPr lang="en-US" i="1" dirty="0">
              <a:solidFill>
                <a:srgbClr val="FFFFFF"/>
              </a:solidFill>
            </a:endParaRPr>
          </a:p>
          <a:p>
            <a:endParaRPr lang="en-US" i="1" dirty="0">
              <a:solidFill>
                <a:srgbClr val="FFFFFF"/>
              </a:solidFill>
            </a:endParaRPr>
          </a:p>
          <a:p>
            <a:endParaRPr lang="en-US" i="1" dirty="0">
              <a:solidFill>
                <a:srgbClr val="FFFFFF"/>
              </a:solidFill>
            </a:endParaRPr>
          </a:p>
          <a:p>
            <a:endParaRPr lang="en-US" i="1" dirty="0">
              <a:solidFill>
                <a:srgbClr val="00FF00"/>
              </a:solidFill>
            </a:endParaRPr>
          </a:p>
          <a:p>
            <a:r>
              <a:rPr lang="en-US" dirty="0">
                <a:solidFill>
                  <a:srgbClr val="00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https://go.blueja.io/QgC7nQLL0EOuGNh-uYL5ow</a:t>
            </a:r>
            <a:r>
              <a:rPr lang="en-US" dirty="0">
                <a:solidFill>
                  <a:srgbClr val="00FF00"/>
                </a:solidFill>
              </a:rPr>
              <a:t> </a:t>
            </a:r>
            <a:endParaRPr lang="en-CA" i="1" dirty="0">
              <a:solidFill>
                <a:srgbClr val="00FF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0C07EC4-83BE-05F0-DCA1-C06502F85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0998" y="3075808"/>
            <a:ext cx="1571625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This Week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05" y="1903610"/>
            <a:ext cx="6993835" cy="3766793"/>
          </a:xfrm>
        </p:spPr>
        <p:txBody>
          <a:bodyPr>
            <a:normAutofit/>
          </a:bodyPr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11.1</a:t>
            </a:r>
          </a:p>
          <a:p>
            <a:pPr lvl="1"/>
            <a:r>
              <a:rPr lang="en-US" dirty="0"/>
              <a:t>More OOP! Encapsulation and Examples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11.2</a:t>
            </a:r>
          </a:p>
          <a:p>
            <a:pPr lvl="1"/>
            <a:r>
              <a:rPr lang="en-US" b="1" dirty="0"/>
              <a:t>Files, CSVs, and Modules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11.3 </a:t>
            </a:r>
          </a:p>
          <a:p>
            <a:pPr lvl="1"/>
            <a:r>
              <a:rPr lang="en-US" dirty="0"/>
              <a:t>Design Problem: Dungeon Escape</a:t>
            </a:r>
          </a:p>
        </p:txBody>
      </p:sp>
      <p:pic>
        <p:nvPicPr>
          <p:cNvPr id="6" name="Picture 5" descr="A cat holding a steering wheel&#10;&#10;AI-generated content may be incorrect.">
            <a:extLst>
              <a:ext uri="{FF2B5EF4-FFF2-40B4-BE49-F238E27FC236}">
                <a16:creationId xmlns:a16="http://schemas.microsoft.com/office/drawing/2014/main" id="{C3BF9335-E5CE-1B36-4EC6-9D53ABEB1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2936" y="2011478"/>
            <a:ext cx="4165877" cy="2726756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827282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”</a:t>
            </a:r>
            <a:r>
              <a:rPr lang="en-US" b="1" dirty="0">
                <a:solidFill>
                  <a:srgbClr val="CC99FF"/>
                </a:solidFill>
              </a:rPr>
              <a:t>Writing to Files</a:t>
            </a:r>
            <a:r>
              <a:rPr lang="en-US" b="1" dirty="0">
                <a:solidFill>
                  <a:schemeClr val="accent6"/>
                </a:solidFill>
              </a:rPr>
              <a:t>”</a:t>
            </a:r>
            <a:r>
              <a:rPr lang="en-US" b="1" dirty="0"/>
              <a:t> Recipe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0FF35E-4A45-2149-8375-84C4CBF5E77F}"/>
              </a:ext>
            </a:extLst>
          </p:cNvPr>
          <p:cNvSpPr/>
          <p:nvPr/>
        </p:nvSpPr>
        <p:spPr>
          <a:xfrm>
            <a:off x="1535713" y="2255209"/>
            <a:ext cx="641113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# open/create a file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open("grades.txt", "w")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# write to a file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myfile.write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(’string’)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# close the file   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myfile.close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()</a:t>
            </a:r>
            <a:endParaRPr lang="sv-SE" sz="24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CFEB30-4335-124F-A699-57617E2D9586}"/>
              </a:ext>
            </a:extLst>
          </p:cNvPr>
          <p:cNvCxnSpPr>
            <a:cxnSpLocks/>
          </p:cNvCxnSpPr>
          <p:nvPr/>
        </p:nvCxnSpPr>
        <p:spPr bwMode="auto">
          <a:xfrm>
            <a:off x="857250" y="2520874"/>
            <a:ext cx="0" cy="288045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5C314C-86AA-1761-7004-55D8EA1619F4}"/>
              </a:ext>
            </a:extLst>
          </p:cNvPr>
          <p:cNvCxnSpPr/>
          <p:nvPr/>
        </p:nvCxnSpPr>
        <p:spPr>
          <a:xfrm>
            <a:off x="851234" y="2520874"/>
            <a:ext cx="568492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6AA91A-36F4-5B06-743B-126EC42F62B6}"/>
              </a:ext>
            </a:extLst>
          </p:cNvPr>
          <p:cNvCxnSpPr/>
          <p:nvPr/>
        </p:nvCxnSpPr>
        <p:spPr>
          <a:xfrm>
            <a:off x="851234" y="5384395"/>
            <a:ext cx="568492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2A26984-C1E5-C167-75B7-997CDA9F8235}"/>
              </a:ext>
            </a:extLst>
          </p:cNvPr>
          <p:cNvSpPr txBox="1"/>
          <p:nvPr/>
        </p:nvSpPr>
        <p:spPr>
          <a:xfrm rot="16200000">
            <a:off x="-489975" y="3776432"/>
            <a:ext cx="2209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FFFF"/>
                </a:solidFill>
              </a:rPr>
              <a:t>These go together</a:t>
            </a:r>
            <a:r>
              <a:rPr lang="en-CA" b="1" dirty="0">
                <a:solidFill>
                  <a:schemeClr val="accent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384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Let</a:t>
            </a:r>
            <a:r>
              <a:rPr lang="en-US" b="1" dirty="0">
                <a:solidFill>
                  <a:schemeClr val="accent6"/>
                </a:solidFill>
              </a:rPr>
              <a:t>’</a:t>
            </a:r>
            <a:r>
              <a:rPr lang="en-US" b="1" dirty="0"/>
              <a:t>s Code</a:t>
            </a:r>
            <a:r>
              <a:rPr lang="en-US" b="1" dirty="0">
                <a:solidFill>
                  <a:schemeClr val="accent6"/>
                </a:solidFill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</a:t>
            </a:r>
            <a:r>
              <a:rPr lang="en-CA" dirty="0">
                <a:solidFill>
                  <a:schemeClr val="accent6"/>
                </a:solidFill>
              </a:rPr>
              <a:t>’</a:t>
            </a:r>
            <a:r>
              <a:rPr lang="en-CA" dirty="0"/>
              <a:t>s try writing a dictionary to a file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Writing a dictionary to file</a:t>
            </a:r>
          </a:p>
        </p:txBody>
      </p:sp>
    </p:spTree>
    <p:extLst>
      <p:ext uri="{BB962C8B-B14F-4D97-AF65-F5344CB8AC3E}">
        <p14:creationId xmlns:p14="http://schemas.microsoft.com/office/powerpoint/2010/main" val="2710378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Different Ways of Reading a File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978"/>
            <a:ext cx="10515600" cy="4835479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Reading a file is similar to writing a file</a:t>
            </a:r>
            <a:r>
              <a:rPr lang="en-US" dirty="0">
                <a:solidFill>
                  <a:schemeClr val="accent6"/>
                </a:solidFill>
              </a:rPr>
              <a:t>.</a:t>
            </a:r>
            <a:r>
              <a:rPr lang="en-US" dirty="0"/>
              <a:t> 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First we need to open a file for reading (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“r”</a:t>
            </a:r>
            <a:r>
              <a:rPr lang="en-US" dirty="0"/>
              <a:t>):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If file doesn</a:t>
            </a:r>
            <a:r>
              <a:rPr lang="en-US" dirty="0">
                <a:solidFill>
                  <a:schemeClr val="accent6"/>
                </a:solidFill>
              </a:rPr>
              <a:t>’</a:t>
            </a:r>
            <a:r>
              <a:rPr lang="en-US" dirty="0"/>
              <a:t>t exist</a:t>
            </a:r>
            <a:r>
              <a:rPr lang="en-US" dirty="0">
                <a:solidFill>
                  <a:schemeClr val="accent6"/>
                </a:solidFill>
              </a:rPr>
              <a:t>?</a:t>
            </a:r>
            <a:r>
              <a:rPr lang="en-US" dirty="0"/>
              <a:t> </a:t>
            </a:r>
            <a:r>
              <a:rPr lang="en-US" b="1" u="sng" dirty="0">
                <a:solidFill>
                  <a:srgbClr val="FF0000"/>
                </a:solidFill>
              </a:rPr>
              <a:t>ERROR!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Then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to read a file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we apply one of the following approaches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which take advantage of various read methods</a:t>
            </a:r>
            <a:r>
              <a:rPr lang="en-US" dirty="0">
                <a:solidFill>
                  <a:schemeClr val="accent6"/>
                </a:solidFill>
              </a:rPr>
              <a:t>:</a:t>
            </a:r>
          </a:p>
          <a:p>
            <a:pPr marL="1657350" lvl="3" indent="-514350">
              <a:spcBef>
                <a:spcPct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n-US" dirty="0"/>
              <a:t> approach</a:t>
            </a:r>
          </a:p>
          <a:p>
            <a:pPr marL="1657350" lvl="3" indent="-514350">
              <a:spcBef>
                <a:spcPct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n-US" dirty="0"/>
              <a:t> approach</a:t>
            </a:r>
          </a:p>
          <a:p>
            <a:pPr marL="1657350" lvl="3" indent="-514350">
              <a:spcBef>
                <a:spcPct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line in file </a:t>
            </a:r>
            <a:r>
              <a:rPr lang="en-US" dirty="0"/>
              <a:t>approach</a:t>
            </a:r>
          </a:p>
          <a:p>
            <a:pPr marL="1657350" lvl="3" indent="-514350">
              <a:spcBef>
                <a:spcPct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readlines</a:t>
            </a:r>
            <a:r>
              <a:rPr lang="en-US" dirty="0"/>
              <a:t> approach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sz="1400" dirty="0"/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52D1E3B6-E39E-D841-A944-7DF0BD96DED0}"/>
              </a:ext>
            </a:extLst>
          </p:cNvPr>
          <p:cNvSpPr txBox="1"/>
          <p:nvPr/>
        </p:nvSpPr>
        <p:spPr>
          <a:xfrm>
            <a:off x="1182951" y="2718322"/>
            <a:ext cx="8763001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600" b="1" spc="-5" dirty="0" err="1">
                <a:solidFill>
                  <a:srgbClr val="00FF00"/>
                </a:solidFill>
                <a:latin typeface="Courier New"/>
                <a:cs typeface="Courier New"/>
              </a:rPr>
              <a:t>myfile</a:t>
            </a:r>
            <a:r>
              <a:rPr lang="en-US" sz="3600" b="1" spc="-5" dirty="0">
                <a:solidFill>
                  <a:srgbClr val="00FF00"/>
                </a:solidFill>
                <a:latin typeface="Courier New"/>
                <a:cs typeface="Courier New"/>
              </a:rPr>
              <a:t> = open(‘</a:t>
            </a:r>
            <a:r>
              <a:rPr lang="en-US" sz="3600" b="1" spc="-5" dirty="0" err="1">
                <a:solidFill>
                  <a:srgbClr val="00FF00"/>
                </a:solidFill>
                <a:latin typeface="Courier New"/>
                <a:cs typeface="Courier New"/>
              </a:rPr>
              <a:t>test.txt</a:t>
            </a:r>
            <a:r>
              <a:rPr lang="en-US" sz="3600" b="1" spc="-5" dirty="0">
                <a:solidFill>
                  <a:srgbClr val="00FF00"/>
                </a:solidFill>
                <a:latin typeface="Courier New"/>
                <a:cs typeface="Courier New"/>
              </a:rPr>
              <a:t>’, </a:t>
            </a:r>
            <a:r>
              <a:rPr lang="en-US" sz="3600" b="1" spc="-5" dirty="0">
                <a:solidFill>
                  <a:schemeClr val="accent6"/>
                </a:solidFill>
                <a:latin typeface="Courier New"/>
                <a:cs typeface="Courier New"/>
              </a:rPr>
              <a:t>‘r’</a:t>
            </a:r>
            <a:r>
              <a:rPr lang="en-US" sz="3600" b="1" spc="-5" dirty="0">
                <a:solidFill>
                  <a:srgbClr val="00FF00"/>
                </a:solidFill>
                <a:latin typeface="Courier New"/>
                <a:cs typeface="Courier New"/>
              </a:rPr>
              <a:t>)</a:t>
            </a:r>
            <a:endParaRPr sz="3600" b="1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0596DF-A5C0-3A4D-8DAC-5BC81AB0CA43}"/>
              </a:ext>
            </a:extLst>
          </p:cNvPr>
          <p:cNvSpPr txBox="1"/>
          <p:nvPr/>
        </p:nvSpPr>
        <p:spPr>
          <a:xfrm>
            <a:off x="7074569" y="4824625"/>
            <a:ext cx="39162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No correct approach!</a:t>
            </a:r>
          </a:p>
          <a:p>
            <a:r>
              <a:rPr lang="en-US" sz="2400" b="1" dirty="0">
                <a:solidFill>
                  <a:srgbClr val="FFFF00"/>
                </a:solidFill>
              </a:rPr>
              <a:t>Multiple methods to help with contexts and purposes.</a:t>
            </a:r>
          </a:p>
        </p:txBody>
      </p:sp>
    </p:spTree>
    <p:extLst>
      <p:ext uri="{BB962C8B-B14F-4D97-AF65-F5344CB8AC3E}">
        <p14:creationId xmlns:p14="http://schemas.microsoft.com/office/powerpoint/2010/main" val="22216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Different ways of Reading a File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658FBE8-A4CC-D040-B901-16DD3E094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793394"/>
              </p:ext>
            </p:extLst>
          </p:nvPr>
        </p:nvGraphicFramePr>
        <p:xfrm>
          <a:off x="248505" y="1475772"/>
          <a:ext cx="10241280" cy="5140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45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6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9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Approach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Code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When to use it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The read approach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myfile = open(filename, 'r')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contents =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  <a:effectLst/>
                        </a:rPr>
                        <a:t>myfile.read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()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myfile.close()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MS Mincho" panose="02020609040205080304" pitchFamily="49" charset="-128"/>
                        <a:cs typeface="Courier New" panose="02070309020205020404" pitchFamily="49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When you want to read the whole file at once and use it as a single string.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The </a:t>
                      </a:r>
                      <a:r>
                        <a:rPr lang="en-US" sz="1600" dirty="0" err="1">
                          <a:solidFill>
                            <a:srgbClr val="FFFFFF"/>
                          </a:solidFill>
                          <a:effectLst/>
                        </a:rPr>
                        <a:t>readline</a:t>
                      </a: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 approach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myfile = open(filename, 'r')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contents = ''</a:t>
                      </a:r>
                      <a:b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line =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  <a:effectLst/>
                        </a:rPr>
                        <a:t>myfile.readline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()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while line != '':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    contents += line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    line =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  <a:effectLst/>
                        </a:rPr>
                        <a:t>myfile.readline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()</a:t>
                      </a:r>
                      <a:b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</a:br>
                      <a:r>
                        <a:rPr lang="en-US" sz="1600" dirty="0" err="1">
                          <a:solidFill>
                            <a:srgbClr val="0070C0"/>
                          </a:solidFill>
                          <a:effectLst/>
                        </a:rPr>
                        <a:t>myfile.close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()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MS Mincho" panose="02020609040205080304" pitchFamily="49" charset="-128"/>
                        <a:cs typeface="Courier New" panose="02070309020205020404" pitchFamily="49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When you want to process only part of a file. Each time through the loop line contains one line of the file.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The for line in file approach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myfile = open(filename, 'r')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contents = ''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for line in myfile:</a:t>
                      </a:r>
                      <a:b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    contents += line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myfile.close()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MS Mincho" panose="02020609040205080304" pitchFamily="49" charset="-128"/>
                        <a:cs typeface="Courier New" panose="02070309020205020404" pitchFamily="49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When you want to process every line in the file one at a time.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The </a:t>
                      </a:r>
                      <a:r>
                        <a:rPr lang="en-US" sz="1600" dirty="0" err="1">
                          <a:solidFill>
                            <a:srgbClr val="FFFFFF"/>
                          </a:solidFill>
                          <a:effectLst/>
                        </a:rPr>
                        <a:t>readlines</a:t>
                      </a: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 approach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myfile = open(filename, 'r')</a:t>
                      </a:r>
                      <a:b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lines =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  <a:effectLst/>
                        </a:rPr>
                        <a:t>myfile.readlines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()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myfile.close()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MS Mincho" panose="02020609040205080304" pitchFamily="49" charset="-128"/>
                        <a:cs typeface="Courier New" panose="02070309020205020404" pitchFamily="49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When you want to examine each line of a file by index.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ight Brace 2">
            <a:extLst>
              <a:ext uri="{FF2B5EF4-FFF2-40B4-BE49-F238E27FC236}">
                <a16:creationId xmlns:a16="http://schemas.microsoft.com/office/drawing/2014/main" id="{D5B38CC2-7422-3308-8D1D-A14310F8C6EB}"/>
              </a:ext>
            </a:extLst>
          </p:cNvPr>
          <p:cNvSpPr/>
          <p:nvPr/>
        </p:nvSpPr>
        <p:spPr>
          <a:xfrm>
            <a:off x="10613746" y="4493794"/>
            <a:ext cx="609600" cy="2075448"/>
          </a:xfrm>
          <a:prstGeom prst="rightBrace">
            <a:avLst>
              <a:gd name="adj1" fmla="val 73997"/>
              <a:gd name="adj2" fmla="val 50000"/>
            </a:avLst>
          </a:prstGeom>
          <a:ln w="5715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4F834529-3EC7-6B01-EB6C-B87FA29C4E50}"/>
              </a:ext>
            </a:extLst>
          </p:cNvPr>
          <p:cNvSpPr/>
          <p:nvPr/>
        </p:nvSpPr>
        <p:spPr>
          <a:xfrm>
            <a:off x="10610590" y="1882941"/>
            <a:ext cx="609600" cy="2532647"/>
          </a:xfrm>
          <a:prstGeom prst="rightBrace">
            <a:avLst>
              <a:gd name="adj1" fmla="val 103865"/>
              <a:gd name="adj2" fmla="val 50000"/>
            </a:avLst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39245-FC95-FB47-5A5F-4EE33C86EAA3}"/>
              </a:ext>
            </a:extLst>
          </p:cNvPr>
          <p:cNvSpPr txBox="1"/>
          <p:nvPr/>
        </p:nvSpPr>
        <p:spPr>
          <a:xfrm rot="5400000">
            <a:off x="10978938" y="5263892"/>
            <a:ext cx="1357166" cy="52322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rgbClr val="FFFFFF"/>
                </a:solidFill>
              </a:rPr>
              <a:t>TODAY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90EDD4-C7B1-960F-39C6-CE11A8B3D3E0}"/>
              </a:ext>
            </a:extLst>
          </p:cNvPr>
          <p:cNvSpPr txBox="1"/>
          <p:nvPr/>
        </p:nvSpPr>
        <p:spPr>
          <a:xfrm rot="5400000">
            <a:off x="10898909" y="2892823"/>
            <a:ext cx="1465466" cy="52322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rgbClr val="FFFFFF"/>
                </a:solidFill>
              </a:rPr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364806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Let’s Code</a:t>
            </a:r>
            <a:r>
              <a:rPr lang="en-US" b="1" dirty="0">
                <a:solidFill>
                  <a:srgbClr val="00FF00"/>
                </a:solidFill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</a:t>
            </a:r>
            <a:r>
              <a:rPr lang="en-CA" dirty="0">
                <a:solidFill>
                  <a:schemeClr val="accent6"/>
                </a:solidFill>
              </a:rPr>
              <a:t>’</a:t>
            </a:r>
            <a:r>
              <a:rPr lang="en-CA" dirty="0"/>
              <a:t>s take a look at how this works in Python</a:t>
            </a:r>
            <a:r>
              <a:rPr lang="en-CA" dirty="0">
                <a:solidFill>
                  <a:schemeClr val="accent6"/>
                </a:solidFill>
              </a:rPr>
              <a:t>!</a:t>
            </a:r>
          </a:p>
          <a:p>
            <a:pPr lvl="1"/>
            <a:r>
              <a:rPr lang="en-CA" dirty="0"/>
              <a:t>Different read approaches</a:t>
            </a:r>
            <a:r>
              <a:rPr lang="en-CA" dirty="0">
                <a:solidFill>
                  <a:schemeClr val="accent6"/>
                </a:solidFill>
              </a:rPr>
              <a:t>:</a:t>
            </a:r>
          </a:p>
          <a:p>
            <a:pPr lvl="2"/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read()</a:t>
            </a:r>
          </a:p>
          <a:p>
            <a:pPr lvl="2"/>
            <a:r>
              <a:rPr lang="en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line in file</a:t>
            </a:r>
          </a:p>
          <a:p>
            <a:pPr lvl="2"/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readlines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More file reading methods</a:t>
            </a:r>
          </a:p>
        </p:txBody>
      </p:sp>
    </p:spTree>
    <p:extLst>
      <p:ext uri="{BB962C8B-B14F-4D97-AF65-F5344CB8AC3E}">
        <p14:creationId xmlns:p14="http://schemas.microsoft.com/office/powerpoint/2010/main" val="151772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6"/>
                </a:solidFill>
              </a:rPr>
              <a:t>with</a:t>
            </a:r>
            <a:r>
              <a:rPr lang="en-US" dirty="0"/>
              <a:t> Statement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978"/>
            <a:ext cx="10515600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Every call on function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dirty="0"/>
              <a:t> should have an accompanying call on the method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n-US" dirty="0"/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Python provides a statement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dirty="0"/>
              <a:t>, which automatically closes the file when the end of with block is reached. 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The general form of a with statement is as follows: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 marL="0" indent="0">
              <a:spcBef>
                <a:spcPct val="0"/>
              </a:spcBef>
              <a:spcAft>
                <a:spcPts val="1800"/>
              </a:spcAft>
              <a:buNone/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C8B45E-FE26-6041-8680-398C82E8D702}"/>
              </a:ext>
            </a:extLst>
          </p:cNvPr>
          <p:cNvSpPr/>
          <p:nvPr/>
        </p:nvSpPr>
        <p:spPr>
          <a:xfrm>
            <a:off x="2065020" y="4353025"/>
            <a:ext cx="7239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with</a:t>
            </a:r>
            <a:r>
              <a:rPr lang="en-US" sz="2400" dirty="0">
                <a:solidFill>
                  <a:srgbClr val="5B9BD5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open(filename, mode) </a:t>
            </a:r>
            <a:r>
              <a:rPr lang="en-US" sz="24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as variable: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5B9BD5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	body</a:t>
            </a:r>
          </a:p>
        </p:txBody>
      </p:sp>
    </p:spTree>
    <p:extLst>
      <p:ext uri="{BB962C8B-B14F-4D97-AF65-F5344CB8AC3E}">
        <p14:creationId xmlns:p14="http://schemas.microsoft.com/office/powerpoint/2010/main" val="17548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r>
              <a:rPr lang="en-US" dirty="0">
                <a:solidFill>
                  <a:schemeClr val="accent6"/>
                </a:solidFill>
              </a:rPr>
              <a:t>:</a:t>
            </a:r>
            <a:r>
              <a:rPr lang="en-US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dirty="0"/>
              <a:t> Statement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73978"/>
            <a:ext cx="10784305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Modifying the previous example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of reading a file into a dictionary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to use the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dirty="0"/>
              <a:t> statement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248A82-49E5-B246-8EEB-FCD379FE55E9}"/>
              </a:ext>
            </a:extLst>
          </p:cNvPr>
          <p:cNvSpPr/>
          <p:nvPr/>
        </p:nvSpPr>
        <p:spPr>
          <a:xfrm>
            <a:off x="6380729" y="3030690"/>
            <a:ext cx="552171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students = {}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solidFill>
                <a:srgbClr val="00B0F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r>
              <a:rPr lang="en-US" b="1" strike="sngStrike" dirty="0" err="1">
                <a:solidFill>
                  <a:srgbClr val="CC99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b="1" strike="sngStrike" dirty="0">
                <a:solidFill>
                  <a:srgbClr val="CC99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open("grades.txt", "r")</a:t>
            </a:r>
          </a:p>
          <a:p>
            <a:endParaRPr lang="en-US" b="1" strike="sngStrike" dirty="0">
              <a:solidFill>
                <a:srgbClr val="FF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with open("grades.txt", "r") as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for line in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parts =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line.strip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().split(',')            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name = parts[0]   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grade = parts[1]   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students[name] = grade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solidFill>
                <a:srgbClr val="5B9BD5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strike="sngStrike" dirty="0" err="1">
                <a:solidFill>
                  <a:srgbClr val="CC99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myfile.close</a:t>
            </a:r>
            <a:r>
              <a:rPr lang="en-US" b="1" strike="sngStrike" dirty="0">
                <a:solidFill>
                  <a:srgbClr val="CC99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()</a:t>
            </a:r>
            <a:endParaRPr lang="sv-SE" b="1" strike="sngStrike" dirty="0">
              <a:solidFill>
                <a:srgbClr val="CC99FF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A74C67-BD38-087E-2A89-619D02325C0B}"/>
              </a:ext>
            </a:extLst>
          </p:cNvPr>
          <p:cNvSpPr/>
          <p:nvPr/>
        </p:nvSpPr>
        <p:spPr>
          <a:xfrm>
            <a:off x="272537" y="3030690"/>
            <a:ext cx="553695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students = {}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solidFill>
                <a:srgbClr val="00B0F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open("grades.txt", "r")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for line in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: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parts =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line.strip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().split(',')             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name = parts[0]    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grade = parts[1]    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students[name] = grade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solidFill>
                <a:srgbClr val="5B9BD5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myfile.close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()</a:t>
            </a:r>
            <a:endParaRPr lang="sv-SE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E062F2-C2CF-D747-5A64-BD128EA013CA}"/>
              </a:ext>
            </a:extLst>
          </p:cNvPr>
          <p:cNvSpPr txBox="1"/>
          <p:nvPr/>
        </p:nvSpPr>
        <p:spPr>
          <a:xfrm>
            <a:off x="6380729" y="2567900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accent6"/>
                </a:solidFill>
              </a:rPr>
              <a:t>Using 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ECE379-A8E3-57C6-3A83-ED81D3C77124}"/>
              </a:ext>
            </a:extLst>
          </p:cNvPr>
          <p:cNvSpPr txBox="1"/>
          <p:nvPr/>
        </p:nvSpPr>
        <p:spPr>
          <a:xfrm>
            <a:off x="272537" y="2567900"/>
            <a:ext cx="2284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accent6"/>
                </a:solidFill>
              </a:rPr>
              <a:t>Without using 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8552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Let</a:t>
            </a:r>
            <a:r>
              <a:rPr lang="en-US" b="1" dirty="0">
                <a:solidFill>
                  <a:srgbClr val="00FF00"/>
                </a:solidFill>
              </a:rPr>
              <a:t>’</a:t>
            </a:r>
            <a:r>
              <a:rPr lang="en-US" b="1" dirty="0"/>
              <a:t>s Code</a:t>
            </a:r>
            <a:r>
              <a:rPr lang="en-US" b="1" dirty="0">
                <a:solidFill>
                  <a:srgbClr val="00FF00"/>
                </a:solidFill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</a:t>
            </a:r>
            <a:r>
              <a:rPr lang="en-CA" dirty="0">
                <a:solidFill>
                  <a:schemeClr val="accent6"/>
                </a:solidFill>
              </a:rPr>
              <a:t>’</a:t>
            </a:r>
            <a:r>
              <a:rPr lang="en-CA" dirty="0"/>
              <a:t>s take a look at how this works in Python</a:t>
            </a:r>
            <a:r>
              <a:rPr lang="en-CA" dirty="0">
                <a:solidFill>
                  <a:schemeClr val="accent6"/>
                </a:solidFill>
              </a:rPr>
              <a:t>!</a:t>
            </a:r>
          </a:p>
          <a:p>
            <a:pPr lvl="1"/>
            <a:r>
              <a:rPr lang="en-CA" dirty="0"/>
              <a:t>Opening and closing files with the with statement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 err="1">
                <a:solidFill>
                  <a:srgbClr val="FFFFFF"/>
                </a:solidFill>
              </a:rPr>
              <a:t>Beakout</a:t>
            </a:r>
            <a:r>
              <a:rPr lang="en-US" sz="4400" b="1" dirty="0">
                <a:solidFill>
                  <a:srgbClr val="FFFFFF"/>
                </a:solidFill>
              </a:rPr>
              <a:t> Session!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4. The with statement</a:t>
            </a:r>
          </a:p>
        </p:txBody>
      </p:sp>
    </p:spTree>
    <p:extLst>
      <p:ext uri="{BB962C8B-B14F-4D97-AF65-F5344CB8AC3E}">
        <p14:creationId xmlns:p14="http://schemas.microsoft.com/office/powerpoint/2010/main" val="3853556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00FF00"/>
                </a:solidFill>
              </a:rPr>
              <a:t>C</a:t>
            </a:r>
            <a:r>
              <a:rPr lang="en-US" b="1" dirty="0"/>
              <a:t>omma </a:t>
            </a:r>
            <a:r>
              <a:rPr lang="en-US" b="1" u="sng" dirty="0">
                <a:solidFill>
                  <a:srgbClr val="00FF00"/>
                </a:solidFill>
              </a:rPr>
              <a:t>S</a:t>
            </a:r>
            <a:r>
              <a:rPr lang="en-US" b="1" dirty="0"/>
              <a:t>eparated </a:t>
            </a:r>
            <a:r>
              <a:rPr lang="en-US" b="1" u="sng" dirty="0">
                <a:solidFill>
                  <a:srgbClr val="00FF00"/>
                </a:solidFill>
              </a:rPr>
              <a:t>V</a:t>
            </a:r>
            <a:r>
              <a:rPr lang="en-US" b="1" dirty="0"/>
              <a:t>alues files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73978"/>
            <a:ext cx="11034713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We use them often in Excel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and other spreadsheet software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Remember our old friend MS Excel</a:t>
            </a:r>
            <a:r>
              <a:rPr lang="en-US" dirty="0">
                <a:solidFill>
                  <a:schemeClr val="accent6"/>
                </a:solidFill>
              </a:rPr>
              <a:t>?</a:t>
            </a:r>
            <a:r>
              <a:rPr lang="en-US" dirty="0"/>
              <a:t>  They work with Python too</a:t>
            </a:r>
            <a:r>
              <a:rPr lang="en-US" dirty="0">
                <a:solidFill>
                  <a:schemeClr val="accent6"/>
                </a:solidFill>
              </a:rPr>
              <a:t>…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sz="1400" dirty="0"/>
          </a:p>
        </p:txBody>
      </p:sp>
      <p:pic>
        <p:nvPicPr>
          <p:cNvPr id="9218" name="Picture 2" descr="Understanding CSV Files in Excel | Spreadsheets Made Easy">
            <a:extLst>
              <a:ext uri="{FF2B5EF4-FFF2-40B4-BE49-F238E27FC236}">
                <a16:creationId xmlns:a16="http://schemas.microsoft.com/office/drawing/2014/main" id="{298FB030-1E93-8049-9826-0A962D42F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447" y="3307690"/>
            <a:ext cx="3728998" cy="2796748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s your business stuck in the Excel hell? Stop it now!">
            <a:extLst>
              <a:ext uri="{FF2B5EF4-FFF2-40B4-BE49-F238E27FC236}">
                <a16:creationId xmlns:a16="http://schemas.microsoft.com/office/drawing/2014/main" id="{274D0EB2-4E87-B1A2-0263-07956899F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31" y="3307797"/>
            <a:ext cx="5048250" cy="2796641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939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CSV Files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978"/>
            <a:ext cx="10515600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Text data is commonly organized in a spreadsheet format using columns and rows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A common way to do this is to use a comma</a:t>
            </a:r>
            <a:r>
              <a:rPr lang="en-US" dirty="0">
                <a:solidFill>
                  <a:schemeClr val="accent6"/>
                </a:solidFill>
              </a:rPr>
              <a:t>-</a:t>
            </a:r>
            <a:r>
              <a:rPr lang="en-US" dirty="0"/>
              <a:t>separated</a:t>
            </a:r>
            <a:r>
              <a:rPr lang="en-US" dirty="0">
                <a:solidFill>
                  <a:schemeClr val="accent6"/>
                </a:solidFill>
              </a:rPr>
              <a:t>-</a:t>
            </a:r>
            <a:r>
              <a:rPr lang="en-US" dirty="0"/>
              <a:t>value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CSV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/>
              <a:t> file format that uses commas to separate data items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called fields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sz="1400" dirty="0"/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976ACDBF-CC1E-1F4F-A058-E6CEA2250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901" y="4091717"/>
            <a:ext cx="4890016" cy="2417740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2B87D60E-EABF-D64D-B71C-5FA0CBE8FF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2" t="11550" r="10835" b="11961"/>
          <a:stretch>
            <a:fillRect/>
          </a:stretch>
        </p:blipFill>
        <p:spPr>
          <a:xfrm>
            <a:off x="6575264" y="4024565"/>
            <a:ext cx="3735806" cy="302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87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Opening a CSV File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978"/>
            <a:ext cx="10515600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>
                <a:ea typeface="Times New Roman" panose="02020603050405020304" pitchFamily="18" charset="0"/>
              </a:rPr>
              <a:t>Let’s see what happens when we try to read the CSV file, </a:t>
            </a:r>
            <a:r>
              <a:rPr lang="en-US" dirty="0"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'</a:t>
            </a:r>
            <a:r>
              <a:rPr lang="en-US" dirty="0" err="1"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grades.csv</a:t>
            </a:r>
            <a:r>
              <a:rPr lang="en-US" dirty="0"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'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ea typeface="Times New Roman" panose="02020603050405020304" pitchFamily="18" charset="0"/>
              </a:rPr>
              <a:t>using the file reading techniques discussed earlier.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How can we use this to obtain column and row information?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AB240B-9BFE-ED44-89AD-71EB850FDB24}"/>
              </a:ext>
            </a:extLst>
          </p:cNvPr>
          <p:cNvSpPr/>
          <p:nvPr/>
        </p:nvSpPr>
        <p:spPr>
          <a:xfrm>
            <a:off x="255815" y="3276109"/>
            <a:ext cx="1212124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with open('grades.csv', 'r') as file: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contents = </a:t>
            </a:r>
            <a:r>
              <a:rPr lang="en-US" sz="2000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file.read</a:t>
            </a:r>
            <a:r>
              <a:rPr lang="en-US" sz="20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contents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'Name,Test1,Test2,Final\nKendrick,100,50,29\nDre,76,32,33\nSnoop,25,75,95\n'</a:t>
            </a:r>
          </a:p>
        </p:txBody>
      </p:sp>
    </p:spTree>
    <p:extLst>
      <p:ext uri="{BB962C8B-B14F-4D97-AF65-F5344CB8AC3E}">
        <p14:creationId xmlns:p14="http://schemas.microsoft.com/office/powerpoint/2010/main" val="275830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Reading CSV Files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4" y="1716841"/>
            <a:ext cx="11449371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The CSV module is a powerful solution developed for working with CSV files.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Reading of CSV files is done using the CSV reader. You can construct a reader object using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csv.reader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which takes the file object as input.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The reader object can be used to iterate through the contents of the CSV file, similarly to how a file object was used to iterate through the contents in a text file.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1643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Example: Reading a CSV File </a:t>
            </a:r>
            <a:r>
              <a:rPr lang="en-US" b="1" dirty="0">
                <a:solidFill>
                  <a:srgbClr val="CC99FF"/>
                </a:solidFill>
              </a:rPr>
              <a:t>(</a:t>
            </a:r>
            <a:r>
              <a:rPr lang="en-US" b="1" dirty="0"/>
              <a:t>open</a:t>
            </a:r>
            <a:r>
              <a:rPr lang="en-US" b="1" dirty="0">
                <a:solidFill>
                  <a:schemeClr val="accent6"/>
                </a:solidFill>
              </a:rPr>
              <a:t>/</a:t>
            </a:r>
            <a:r>
              <a:rPr lang="en-US" b="1" dirty="0"/>
              <a:t>close</a:t>
            </a:r>
            <a:r>
              <a:rPr lang="en-US" b="1" dirty="0">
                <a:solidFill>
                  <a:srgbClr val="CC99FF"/>
                </a:solidFill>
              </a:rPr>
              <a:t>)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759"/>
            <a:ext cx="10515600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Read each row of a CSV file the csv module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03073A-0487-3A67-9484-9D0B3C138991}"/>
              </a:ext>
            </a:extLst>
          </p:cNvPr>
          <p:cNvSpPr/>
          <p:nvPr/>
        </p:nvSpPr>
        <p:spPr>
          <a:xfrm>
            <a:off x="1028366" y="2040007"/>
            <a:ext cx="9342855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import csv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chemeClr val="accent6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with open('grades.csv', 'r') as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grades_reader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csv.reader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row_num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1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for row in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grades_reader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print('Row #',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row_num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, ':', row)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row_num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+= 1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Row # 1 : ['Name', 'Test1', 'Test2', 'Final']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Row # 2 : [‘Kendrick', '100', '50', '29']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Row # 3 : [‘Dre', '76', '32', '33']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Row # 4 : [‘Snoop', '25', '75', '95']</a:t>
            </a:r>
            <a:endParaRPr lang="en-US" sz="22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0045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Writing CSV Files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759"/>
            <a:ext cx="10515600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To write to the file we would first need to create a </a:t>
            </a:r>
            <a:r>
              <a:rPr lang="en-US" b="1" dirty="0">
                <a:solidFill>
                  <a:srgbClr val="CC99FF"/>
                </a:solidFill>
              </a:rPr>
              <a:t>CSV</a:t>
            </a:r>
            <a:r>
              <a:rPr lang="en-US" dirty="0"/>
              <a:t> writer object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csv.writer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()</a:t>
            </a:r>
            <a:r>
              <a:rPr lang="en-US" dirty="0">
                <a:solidFill>
                  <a:schemeClr val="accent6"/>
                </a:solidFill>
                <a:ea typeface="MS Mincho" panose="02020609040205080304" pitchFamily="49" charset="-128"/>
              </a:rPr>
              <a:t>,</a:t>
            </a:r>
            <a:r>
              <a:rPr lang="en-US" dirty="0">
                <a:ea typeface="MS Mincho" panose="02020609040205080304" pitchFamily="49" charset="-128"/>
              </a:rPr>
              <a:t> which similar to how we made a</a:t>
            </a:r>
            <a:r>
              <a:rPr lang="en-US" dirty="0">
                <a:solidFill>
                  <a:schemeClr val="accent6"/>
                </a:solidFill>
                <a:ea typeface="MS Mincho" panose="02020609040205080304" pitchFamily="49" charset="-128"/>
              </a:rPr>
              <a:t>,</a:t>
            </a:r>
            <a:r>
              <a:rPr lang="en-US" dirty="0">
                <a:ea typeface="MS Mincho" panose="02020609040205080304" pitchFamily="49" charset="-128"/>
              </a:rPr>
              <a:t> </a:t>
            </a:r>
            <a:r>
              <a:rPr lang="en-US" b="1" dirty="0">
                <a:solidFill>
                  <a:srgbClr val="CC99FF"/>
                </a:solidFill>
              </a:rPr>
              <a:t>CSV</a:t>
            </a:r>
            <a:r>
              <a:rPr lang="en-US" dirty="0"/>
              <a:t> reader object</a:t>
            </a:r>
            <a:r>
              <a:rPr lang="en-US" dirty="0">
                <a:solidFill>
                  <a:schemeClr val="accent6"/>
                </a:solidFill>
              </a:rPr>
              <a:t>.</a:t>
            </a:r>
            <a:r>
              <a:rPr lang="en-US" dirty="0"/>
              <a:t> 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Once the CSV writer object is created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we can use the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writerow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method to populate it with data</a:t>
            </a:r>
            <a:r>
              <a:rPr lang="en-US" dirty="0">
                <a:solidFill>
                  <a:schemeClr val="accent6"/>
                </a:solidFill>
              </a:rPr>
              <a:t>.</a:t>
            </a:r>
            <a:r>
              <a:rPr lang="en-US" dirty="0"/>
              <a:t> 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The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writerow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method can only write a single row to the file at a time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098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CSV Files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0077EB-539E-6743-9EF1-5BE0DB44084A}"/>
              </a:ext>
            </a:extLst>
          </p:cNvPr>
          <p:cNvSpPr/>
          <p:nvPr/>
        </p:nvSpPr>
        <p:spPr>
          <a:xfrm>
            <a:off x="1036849" y="2941705"/>
            <a:ext cx="7543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import 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csv</a:t>
            </a:r>
            <a:endParaRPr lang="en-US" sz="2000" b="1" dirty="0">
              <a:solidFill>
                <a:schemeClr val="accent6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grades = [['Name', 'Test1', 'Test2', 'Final'],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 [‘Kendrick', '100', '50', </a:t>
            </a:r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'69'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],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 [‘Dre', '76', '32', </a:t>
            </a:r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'53'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],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 [‘Snoop', '25', '75', '95']]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with open('grades_new.csv', 'w') as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grades_writer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csv.writer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for row in grades: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grades_writer.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writerow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(row)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51377-707D-542C-2581-5F887CADA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235489" cy="1910181"/>
          </a:xfrm>
        </p:spPr>
        <p:txBody>
          <a:bodyPr/>
          <a:lstStyle/>
          <a:p>
            <a:r>
              <a:rPr lang="en-US" sz="2400" dirty="0"/>
              <a:t>In </a:t>
            </a:r>
            <a:r>
              <a:rPr lang="en-US" sz="2400" dirty="0">
                <a:ea typeface="Times New Roman" panose="02020603050405020304" pitchFamily="18" charset="0"/>
              </a:rPr>
              <a:t>the previous grade example</a:t>
            </a:r>
            <a:r>
              <a:rPr lang="en-US" sz="2400" dirty="0">
                <a:solidFill>
                  <a:schemeClr val="accent6"/>
                </a:solidFill>
                <a:ea typeface="Times New Roman" panose="02020603050405020304" pitchFamily="18" charset="0"/>
              </a:rPr>
              <a:t>,</a:t>
            </a:r>
            <a:r>
              <a:rPr lang="en-US" sz="2400" dirty="0">
                <a:ea typeface="Times New Roman" panose="02020603050405020304" pitchFamily="18" charset="0"/>
              </a:rPr>
              <a:t> there were a few marking errors on the final exam and both Kendrick and Dre should have received a higher grade</a:t>
            </a:r>
            <a:r>
              <a:rPr lang="en-US" sz="2400" dirty="0">
                <a:solidFill>
                  <a:schemeClr val="accent6"/>
                </a:solidFill>
                <a:ea typeface="Times New Roman" panose="02020603050405020304" pitchFamily="18" charset="0"/>
              </a:rPr>
              <a:t>.</a:t>
            </a:r>
            <a:r>
              <a:rPr lang="en-US" sz="2400" dirty="0">
                <a:ea typeface="Times New Roman" panose="02020603050405020304" pitchFamily="18" charset="0"/>
              </a:rPr>
              <a:t> Update the grades using the </a:t>
            </a:r>
            <a:r>
              <a:rPr lang="en-US" sz="2400" b="1" dirty="0">
                <a:solidFill>
                  <a:srgbClr val="CC99FF"/>
                </a:solidFill>
                <a:ea typeface="Times New Roman" panose="02020603050405020304" pitchFamily="18" charset="0"/>
              </a:rPr>
              <a:t>CSV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FF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writerow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lang="en-US" sz="2400" dirty="0">
                <a:ea typeface="Times New Roman" panose="02020603050405020304" pitchFamily="18" charset="0"/>
              </a:rPr>
              <a:t>method</a:t>
            </a:r>
            <a:r>
              <a:rPr lang="en-US" sz="2400" dirty="0">
                <a:solidFill>
                  <a:schemeClr val="accent6"/>
                </a:solidFill>
                <a:ea typeface="Times New Roman" panose="02020603050405020304" pitchFamily="18" charset="0"/>
              </a:rPr>
              <a:t>.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endParaRPr lang="en-US" sz="2400" dirty="0"/>
          </a:p>
          <a:p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127734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Opening </a:t>
            </a:r>
            <a:r>
              <a:rPr lang="en-US" b="1" dirty="0">
                <a:solidFill>
                  <a:srgbClr val="CC99FF"/>
                </a:solidFill>
              </a:rPr>
              <a:t>CSV</a:t>
            </a:r>
            <a:r>
              <a:rPr lang="en-US" b="1" dirty="0"/>
              <a:t> File in Excel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33529B-55D2-4948-BBC1-BE356738D7F0}"/>
              </a:ext>
            </a:extLst>
          </p:cNvPr>
          <p:cNvSpPr/>
          <p:nvPr/>
        </p:nvSpPr>
        <p:spPr>
          <a:xfrm>
            <a:off x="1142228" y="6052771"/>
            <a:ext cx="10859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with open('grades_new.csv', 'w', </a:t>
            </a:r>
            <a:r>
              <a:rPr lang="en-US" sz="2400" b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newline=''</a:t>
            </a:r>
            <a:r>
              <a:rPr lang="en-US" sz="2400" b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 as csvfile:</a:t>
            </a:r>
            <a:endParaRPr lang="en-US" sz="2400" b="1" dirty="0">
              <a:solidFill>
                <a:srgbClr val="00FF00"/>
              </a:solidFill>
              <a:effectLst/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  <p:pic>
        <p:nvPicPr>
          <p:cNvPr id="11" name="Picture 10" descr="Table, Excel&#10;&#10;Description automatically generated">
            <a:extLst>
              <a:ext uri="{FF2B5EF4-FFF2-40B4-BE49-F238E27FC236}">
                <a16:creationId xmlns:a16="http://schemas.microsoft.com/office/drawing/2014/main" id="{C28D93BD-2FE6-374D-9828-AB9D95DF9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3965" y="1568120"/>
            <a:ext cx="4618035" cy="403700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FC52C-5788-0977-67B2-F698749C1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89821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sz="240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In the previous example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,</a:t>
            </a:r>
            <a:r>
              <a:rPr lang="en-US" sz="240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we created a </a:t>
            </a:r>
            <a:r>
              <a:rPr lang="en-US" sz="2400" b="1" dirty="0">
                <a:solidFill>
                  <a:srgbClr val="CC99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CSV</a:t>
            </a:r>
            <a:r>
              <a:rPr lang="en-US" sz="240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file which can be opened in any commonly used spreadsheet software </a:t>
            </a:r>
            <a:r>
              <a:rPr lang="en-US" sz="2400" dirty="0">
                <a:solidFill>
                  <a:srgbClr val="CC99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(</a:t>
            </a:r>
            <a:r>
              <a:rPr lang="en-US" sz="240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.</a:t>
            </a:r>
            <a:r>
              <a:rPr lang="en-US" sz="240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g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.</a:t>
            </a:r>
            <a:r>
              <a:rPr lang="en-US" sz="240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Excel</a:t>
            </a:r>
            <a:r>
              <a:rPr lang="en-US" sz="2400" dirty="0">
                <a:solidFill>
                  <a:srgbClr val="CC99FF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)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.</a:t>
            </a:r>
          </a:p>
          <a:p>
            <a:pPr marL="285750" marR="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In some cases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,</a:t>
            </a:r>
            <a:r>
              <a:rPr lang="en-US" sz="2400" dirty="0"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 a formatting error may occur, probably due to the difference between newlines and carriage returns in Windows vs Mac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/</a:t>
            </a:r>
            <a:r>
              <a:rPr lang="en-US" sz="2400" dirty="0"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Linux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To correct this error in formatting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,</a:t>
            </a:r>
            <a:r>
              <a:rPr lang="en-US" sz="2400" dirty="0"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 we will need to prevent the new line from forming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.</a:t>
            </a:r>
            <a:r>
              <a:rPr lang="en-US" sz="2400" dirty="0"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 Add the parameter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newline=''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,</a:t>
            </a:r>
            <a:r>
              <a:rPr lang="en-US" sz="2400" dirty="0"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 and that should resolve the problem</a:t>
            </a:r>
            <a:r>
              <a:rPr lang="en-US" sz="2400" dirty="0">
                <a:solidFill>
                  <a:schemeClr val="accent6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.</a:t>
            </a:r>
            <a:endParaRPr lang="en-US" sz="2400" dirty="0">
              <a:solidFill>
                <a:schemeClr val="accent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79935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Let</a:t>
            </a:r>
            <a:r>
              <a:rPr lang="en-US" b="1" dirty="0">
                <a:solidFill>
                  <a:schemeClr val="accent6"/>
                </a:solidFill>
              </a:rPr>
              <a:t>’</a:t>
            </a:r>
            <a:r>
              <a:rPr lang="en-US" b="1" dirty="0"/>
              <a:t>s Code</a:t>
            </a:r>
            <a:r>
              <a:rPr lang="en-US" b="1" dirty="0">
                <a:solidFill>
                  <a:schemeClr val="accent6"/>
                </a:solidFill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</a:t>
            </a:r>
            <a:r>
              <a:rPr lang="en-CA" dirty="0">
                <a:solidFill>
                  <a:schemeClr val="accent6"/>
                </a:solidFill>
              </a:rPr>
              <a:t>’</a:t>
            </a:r>
            <a:r>
              <a:rPr lang="en-CA" dirty="0"/>
              <a:t>s take a look at how this works in Python</a:t>
            </a:r>
            <a:r>
              <a:rPr lang="en-CA" dirty="0">
                <a:solidFill>
                  <a:schemeClr val="accent6"/>
                </a:solidFill>
              </a:rPr>
              <a:t>!</a:t>
            </a:r>
          </a:p>
          <a:p>
            <a:pPr lvl="1"/>
            <a:r>
              <a:rPr lang="en-CA" dirty="0"/>
              <a:t>Reading and Writing to CSV Files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r>
              <a:rPr lang="en-CA" dirty="0"/>
              <a:t>Parsing through CSV Files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r>
              <a:rPr lang="en-CA" dirty="0"/>
              <a:t>Import the 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</a:t>
            </a:r>
            <a:r>
              <a:rPr lang="en-CA" dirty="0"/>
              <a:t> modules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6. CSV Files</a:t>
            </a:r>
          </a:p>
        </p:txBody>
      </p:sp>
    </p:spTree>
    <p:extLst>
      <p:ext uri="{BB962C8B-B14F-4D97-AF65-F5344CB8AC3E}">
        <p14:creationId xmlns:p14="http://schemas.microsoft.com/office/powerpoint/2010/main" val="1133066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Summary</a:t>
            </a:r>
            <a:r>
              <a:rPr lang="en-US" b="1" dirty="0">
                <a:solidFill>
                  <a:schemeClr val="accent6"/>
                </a:solidFill>
              </a:rPr>
              <a:t>:</a:t>
            </a:r>
            <a:r>
              <a:rPr lang="en-US" b="1" dirty="0"/>
              <a:t> Reading Files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A4FD42-18B9-D748-8D23-5DFBD9678B38}"/>
              </a:ext>
            </a:extLst>
          </p:cNvPr>
          <p:cNvSpPr/>
          <p:nvPr/>
        </p:nvSpPr>
        <p:spPr>
          <a:xfrm>
            <a:off x="124954" y="1729281"/>
            <a:ext cx="3907357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Reading a file using the standard approach</a:t>
            </a:r>
            <a:r>
              <a:rPr lang="en-US" sz="1600" b="1" dirty="0">
                <a:solidFill>
                  <a:schemeClr val="accent6"/>
                </a:solidFill>
              </a:rPr>
              <a:t>.</a:t>
            </a:r>
          </a:p>
          <a:p>
            <a:endParaRPr lang="en-US" sz="1600" dirty="0">
              <a:solidFill>
                <a:srgbClr val="FFFFFF"/>
              </a:solidFill>
            </a:endParaRPr>
          </a:p>
          <a:p>
            <a:endParaRPr lang="en-US" sz="1600" dirty="0">
              <a:solidFill>
                <a:srgbClr val="FFFFFF"/>
              </a:solidFill>
            </a:endParaRPr>
          </a:p>
          <a:p>
            <a:endParaRPr lang="en-US" sz="1600" dirty="0">
              <a:solidFill>
                <a:srgbClr val="92D050"/>
              </a:solidFill>
            </a:endParaRPr>
          </a:p>
          <a:p>
            <a:endParaRPr lang="en-US" sz="1600" dirty="0">
              <a:solidFill>
                <a:srgbClr val="92D050"/>
              </a:solidFill>
            </a:endParaRPr>
          </a:p>
          <a:p>
            <a:r>
              <a:rPr lang="en-US" sz="15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Open communication to a file </a:t>
            </a:r>
            <a:r>
              <a:rPr lang="en-US" sz="15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open('grades.csv', 'r')</a:t>
            </a:r>
          </a:p>
          <a:p>
            <a:endParaRPr lang="en-US" sz="1500" b="1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Read from file</a:t>
            </a:r>
          </a:p>
          <a:p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= </a:t>
            </a:r>
            <a:r>
              <a:rPr lang="en-US" sz="15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myfile.readlines</a:t>
            </a:r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row in L:</a:t>
            </a:r>
          </a:p>
          <a:p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print(row, end = '')</a:t>
            </a:r>
          </a:p>
          <a:p>
            <a:endParaRPr lang="en-US" sz="15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myfile.close</a:t>
            </a:r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FCC9D8-95C9-B247-924E-A8C66A17EB59}"/>
              </a:ext>
            </a:extLst>
          </p:cNvPr>
          <p:cNvSpPr/>
          <p:nvPr/>
        </p:nvSpPr>
        <p:spPr>
          <a:xfrm>
            <a:off x="4105463" y="1729281"/>
            <a:ext cx="3907357" cy="361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Reading a file using the CSV Module</a:t>
            </a:r>
            <a:r>
              <a:rPr lang="en-US" sz="1600" b="1" dirty="0">
                <a:solidFill>
                  <a:schemeClr val="accent6"/>
                </a:solidFill>
              </a:rPr>
              <a:t>.</a:t>
            </a:r>
          </a:p>
          <a:p>
            <a:endParaRPr lang="en-US" sz="1600" dirty="0">
              <a:solidFill>
                <a:schemeClr val="accent6"/>
              </a:solidFill>
            </a:endParaRPr>
          </a:p>
          <a:p>
            <a:endParaRPr lang="en-US" sz="1600" dirty="0">
              <a:solidFill>
                <a:schemeClr val="accent6"/>
              </a:solidFill>
            </a:endParaRPr>
          </a:p>
          <a:p>
            <a:endParaRPr lang="en-US" sz="1600" dirty="0">
              <a:solidFill>
                <a:schemeClr val="accent6"/>
              </a:solidFill>
            </a:endParaRPr>
          </a:p>
          <a:p>
            <a:r>
              <a:rPr lang="en-US" sz="15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csv</a:t>
            </a:r>
          </a:p>
          <a:p>
            <a:endParaRPr lang="en-US" sz="1500" b="1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Open communication to a file </a:t>
            </a:r>
            <a:r>
              <a:rPr lang="en-US" sz="15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open('grades.csv', 'r')</a:t>
            </a:r>
          </a:p>
          <a:p>
            <a:endParaRPr lang="en-US" sz="1500" b="1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Read from file</a:t>
            </a:r>
          </a:p>
          <a:p>
            <a:r>
              <a:rPr lang="en-US" sz="15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csv_reader</a:t>
            </a:r>
            <a:r>
              <a:rPr lang="en-US" sz="15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5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csv.reader</a:t>
            </a:r>
            <a:r>
              <a:rPr lang="en-US" sz="15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sz="15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row in </a:t>
            </a:r>
            <a:r>
              <a:rPr lang="en-US" sz="15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csv_reader</a:t>
            </a:r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print(row)</a:t>
            </a:r>
          </a:p>
          <a:p>
            <a:endParaRPr lang="en-US" sz="15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myfile.close</a:t>
            </a:r>
            <a:r>
              <a:rPr lang="en-US" sz="1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F11A69-AC3E-9543-B153-4173F5E2E5C0}"/>
              </a:ext>
            </a:extLst>
          </p:cNvPr>
          <p:cNvSpPr txBox="1"/>
          <p:nvPr/>
        </p:nvSpPr>
        <p:spPr>
          <a:xfrm>
            <a:off x="8502379" y="1291390"/>
            <a:ext cx="3075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Requirement</a:t>
            </a:r>
            <a:r>
              <a:rPr lang="en-US" sz="1600" b="1" dirty="0">
                <a:solidFill>
                  <a:schemeClr val="accent6"/>
                </a:solidFill>
              </a:rPr>
              <a:t>:</a:t>
            </a:r>
            <a:r>
              <a:rPr lang="en-US" sz="1600" b="1" dirty="0">
                <a:solidFill>
                  <a:srgbClr val="FFFFFF"/>
                </a:solidFill>
              </a:rPr>
              <a:t> </a:t>
            </a:r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“grades.csv”</a:t>
            </a:r>
            <a:r>
              <a:rPr lang="en-US" sz="1600" b="1" dirty="0">
                <a:solidFill>
                  <a:schemeClr val="accent6"/>
                </a:solidFill>
              </a:rPr>
              <a:t>.</a:t>
            </a:r>
          </a:p>
        </p:txBody>
      </p:sp>
      <p:pic>
        <p:nvPicPr>
          <p:cNvPr id="15" name="Picture 14" descr="Graphical user interface, application, table, Excel&#10;&#10;Description automatically generated">
            <a:extLst>
              <a:ext uri="{FF2B5EF4-FFF2-40B4-BE49-F238E27FC236}">
                <a16:creationId xmlns:a16="http://schemas.microsoft.com/office/drawing/2014/main" id="{02675811-D716-2B4B-BF67-1F90D95E6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8" t="4569" r="6937"/>
          <a:stretch>
            <a:fillRect/>
          </a:stretch>
        </p:blipFill>
        <p:spPr>
          <a:xfrm>
            <a:off x="7952878" y="1733669"/>
            <a:ext cx="4174330" cy="429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144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Summary</a:t>
            </a:r>
            <a:r>
              <a:rPr lang="en-US" b="1" dirty="0">
                <a:solidFill>
                  <a:schemeClr val="accent6"/>
                </a:solidFill>
              </a:rPr>
              <a:t>:</a:t>
            </a:r>
            <a:r>
              <a:rPr lang="en-US" b="1" dirty="0"/>
              <a:t> Writing Files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F11A69-AC3E-9543-B153-4173F5E2E5C0}"/>
              </a:ext>
            </a:extLst>
          </p:cNvPr>
          <p:cNvSpPr txBox="1"/>
          <p:nvPr/>
        </p:nvSpPr>
        <p:spPr>
          <a:xfrm>
            <a:off x="7197892" y="646515"/>
            <a:ext cx="483018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+mj-lt"/>
                <a:cs typeface="Courier New" panose="02070309020205020404" pitchFamily="49" charset="0"/>
              </a:rPr>
              <a:t>Requirement</a:t>
            </a:r>
            <a:r>
              <a:rPr lang="en-US" sz="1300" b="1" dirty="0">
                <a:solidFill>
                  <a:schemeClr val="accent6"/>
                </a:solidFill>
                <a:latin typeface="+mj-lt"/>
                <a:cs typeface="Courier New" panose="02070309020205020404" pitchFamily="49" charset="0"/>
              </a:rPr>
              <a:t>:</a:t>
            </a:r>
            <a:r>
              <a:rPr lang="en-US" sz="1300" b="1" dirty="0">
                <a:solidFill>
                  <a:srgbClr val="FFFFFF"/>
                </a:solidFill>
                <a:latin typeface="+mj-lt"/>
                <a:cs typeface="Courier New" panose="02070309020205020404" pitchFamily="49" charset="0"/>
              </a:rPr>
              <a:t> grades needs to be defined</a:t>
            </a:r>
            <a:r>
              <a:rPr lang="en-US" sz="1300" b="1" dirty="0">
                <a:solidFill>
                  <a:schemeClr val="accent6"/>
                </a:solidFill>
                <a:latin typeface="+mj-lt"/>
                <a:cs typeface="Courier New" panose="02070309020205020404" pitchFamily="49" charset="0"/>
              </a:rPr>
              <a:t>.</a:t>
            </a:r>
          </a:p>
          <a:p>
            <a:endParaRPr lang="en-US" sz="13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grades = [['Name', 'Test1', 'Test2', 'Final'],</a:t>
            </a:r>
          </a:p>
          <a:p>
            <a:r>
              <a:rPr lang="en-US" sz="13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[‘Kendrick', '100', '50', '69'],</a:t>
            </a:r>
          </a:p>
          <a:p>
            <a:r>
              <a:rPr lang="en-US" sz="13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[‘Dre', '76', '32', '53'],</a:t>
            </a:r>
          </a:p>
          <a:p>
            <a:r>
              <a:rPr lang="en-US" sz="13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[‘Snoop', '25', '75', '95']]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BC766E-68D8-6148-B621-15E61C028D6F}"/>
              </a:ext>
            </a:extLst>
          </p:cNvPr>
          <p:cNvSpPr/>
          <p:nvPr/>
        </p:nvSpPr>
        <p:spPr>
          <a:xfrm>
            <a:off x="435142" y="2112509"/>
            <a:ext cx="676275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Writing a file using the standard approach</a:t>
            </a:r>
            <a:r>
              <a:rPr lang="en-US" sz="2000" b="1" dirty="0">
                <a:solidFill>
                  <a:schemeClr val="accent6"/>
                </a:solidFill>
              </a:rPr>
              <a:t>.</a:t>
            </a:r>
          </a:p>
          <a:p>
            <a:endParaRPr lang="en-US" sz="2000" dirty="0">
              <a:solidFill>
                <a:srgbClr val="92D050"/>
              </a:solidFill>
            </a:endParaRPr>
          </a:p>
          <a:p>
            <a:endParaRPr lang="en-US" sz="2000" dirty="0">
              <a:solidFill>
                <a:srgbClr val="92D050"/>
              </a:solidFill>
            </a:endParaRPr>
          </a:p>
          <a:p>
            <a:endParaRPr lang="en-US" sz="2000" dirty="0">
              <a:solidFill>
                <a:srgbClr val="92D050"/>
              </a:solidFill>
            </a:endParaRPr>
          </a:p>
          <a:p>
            <a:r>
              <a:rPr lang="en-US" sz="20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Open communication to a file </a:t>
            </a:r>
          </a:p>
          <a:p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open('new_grades.csv', 'w')</a:t>
            </a:r>
          </a:p>
          <a:p>
            <a:endParaRPr lang="en-US" sz="20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Write to file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row in grades: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col in row: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myfile.write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(col + ',')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myfile.write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('\n')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myfile.close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262FF9-9732-BC46-9D94-81AAF4B2F392}"/>
              </a:ext>
            </a:extLst>
          </p:cNvPr>
          <p:cNvSpPr/>
          <p:nvPr/>
        </p:nvSpPr>
        <p:spPr>
          <a:xfrm>
            <a:off x="6376230" y="2112509"/>
            <a:ext cx="538062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Writing a file using the standard approach</a:t>
            </a:r>
            <a:r>
              <a:rPr lang="en-US" sz="2000" b="1" dirty="0">
                <a:solidFill>
                  <a:schemeClr val="accent6"/>
                </a:solidFill>
              </a:rPr>
              <a:t>.</a:t>
            </a:r>
          </a:p>
          <a:p>
            <a:endParaRPr lang="en-US" sz="2000" dirty="0">
              <a:solidFill>
                <a:schemeClr val="accent6"/>
              </a:solidFill>
            </a:endParaRPr>
          </a:p>
          <a:p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csv</a:t>
            </a:r>
          </a:p>
          <a:p>
            <a:endParaRPr lang="en-US" sz="20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Open communication to a file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open('new_grades.csv', 'w')</a:t>
            </a:r>
          </a:p>
          <a:p>
            <a:endParaRPr lang="en-US" sz="20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Write to file</a:t>
            </a:r>
          </a:p>
          <a:p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grades_writer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csv.writer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row in grades:</a:t>
            </a:r>
          </a:p>
          <a:p>
            <a:r>
              <a:rPr lang="en-US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grades_writer.writerow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(row)</a:t>
            </a:r>
          </a:p>
          <a:p>
            <a:endParaRPr lang="en-US" sz="2000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myfile.close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063215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96A4-E22B-E1BE-5205-73B9657BA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Modules</a:t>
            </a:r>
            <a:r>
              <a:rPr lang="en-CA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159CB-A4E7-CBED-B752-BF642CBBB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module is simply a file containing Python definitions </a:t>
            </a:r>
            <a:r>
              <a:rPr lang="en-CA" dirty="0">
                <a:solidFill>
                  <a:schemeClr val="accent6"/>
                </a:solidFill>
              </a:rPr>
              <a:t>(</a:t>
            </a:r>
            <a:r>
              <a:rPr lang="en-CA" dirty="0"/>
              <a:t>functions</a:t>
            </a:r>
            <a:r>
              <a:rPr lang="en-CA" dirty="0">
                <a:solidFill>
                  <a:schemeClr val="accent6"/>
                </a:solidFill>
              </a:rPr>
              <a:t>,</a:t>
            </a:r>
            <a:r>
              <a:rPr lang="en-CA" dirty="0"/>
              <a:t> classes</a:t>
            </a:r>
            <a:r>
              <a:rPr lang="en-CA" dirty="0">
                <a:solidFill>
                  <a:schemeClr val="accent6"/>
                </a:solidFill>
              </a:rPr>
              <a:t>,</a:t>
            </a:r>
            <a:r>
              <a:rPr lang="en-CA" dirty="0"/>
              <a:t> variables</a:t>
            </a:r>
            <a:r>
              <a:rPr lang="en-CA" dirty="0">
                <a:solidFill>
                  <a:schemeClr val="accent6"/>
                </a:solidFill>
              </a:rPr>
              <a:t>)</a:t>
            </a:r>
            <a:r>
              <a:rPr lang="en-CA" dirty="0"/>
              <a:t> that can be imported into your script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r>
              <a:rPr lang="en-CA" dirty="0"/>
              <a:t>By organizing code into modules</a:t>
            </a:r>
            <a:r>
              <a:rPr lang="en-CA" dirty="0">
                <a:solidFill>
                  <a:schemeClr val="accent6"/>
                </a:solidFill>
              </a:rPr>
              <a:t>,</a:t>
            </a:r>
            <a:r>
              <a:rPr lang="en-CA" dirty="0"/>
              <a:t> we</a:t>
            </a:r>
            <a:r>
              <a:rPr lang="en-CA" dirty="0">
                <a:solidFill>
                  <a:schemeClr val="accent6"/>
                </a:solidFill>
              </a:rPr>
              <a:t>:</a:t>
            </a:r>
          </a:p>
          <a:p>
            <a:pPr lvl="1"/>
            <a:r>
              <a:rPr lang="en-CA" dirty="0"/>
              <a:t>Keep code maintainable and organized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r>
              <a:rPr lang="en-CA" dirty="0"/>
              <a:t>Reuse functions or classes across multiple projects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r>
              <a:rPr lang="en-CA" dirty="0"/>
              <a:t>Avoid cluttering a single file with too much logic</a:t>
            </a:r>
            <a:r>
              <a:rPr lang="en-CA" dirty="0">
                <a:solidFill>
                  <a:schemeClr val="accent6"/>
                </a:solidFill>
              </a:rPr>
              <a:t>.</a:t>
            </a:r>
            <a:endParaRPr lang="en-CA" dirty="0"/>
          </a:p>
          <a:p>
            <a:r>
              <a:rPr lang="en-CA" dirty="0"/>
              <a:t>Tip</a:t>
            </a:r>
            <a:r>
              <a:rPr lang="en-CA" dirty="0">
                <a:solidFill>
                  <a:schemeClr val="accent6"/>
                </a:solidFill>
              </a:rPr>
              <a:t>:</a:t>
            </a:r>
            <a:r>
              <a:rPr lang="en-CA" dirty="0"/>
              <a:t> Any file named 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something.py</a:t>
            </a:r>
            <a:r>
              <a:rPr lang="en-CA" dirty="0"/>
              <a:t> can be considered a module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0825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E36D3-73B4-C7E0-AC93-770FBCD04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Importing Modules</a:t>
            </a:r>
            <a:r>
              <a:rPr lang="en-CA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95570-B626-F485-5C71-042E77C8C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571"/>
            <a:ext cx="11061032" cy="4835479"/>
          </a:xfrm>
        </p:spPr>
        <p:txBody>
          <a:bodyPr>
            <a:normAutofit lnSpcReduction="10000"/>
          </a:bodyPr>
          <a:lstStyle/>
          <a:p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module_name</a:t>
            </a:r>
            <a:endParaRPr lang="en-CA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CA" dirty="0"/>
              <a:t>Imports the entire module</a:t>
            </a:r>
            <a:r>
              <a:rPr lang="en-CA" dirty="0">
                <a:solidFill>
                  <a:schemeClr val="accent6"/>
                </a:solidFill>
              </a:rPr>
              <a:t>.</a:t>
            </a:r>
            <a:r>
              <a:rPr lang="en-CA" dirty="0"/>
              <a:t> </a:t>
            </a:r>
          </a:p>
          <a:p>
            <a:pPr lvl="1"/>
            <a:r>
              <a:rPr lang="en-CA" dirty="0"/>
              <a:t>You call functions with 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module_name.function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endParaRPr lang="en-CA" dirty="0"/>
          </a:p>
          <a:p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module_name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something</a:t>
            </a:r>
          </a:p>
          <a:p>
            <a:pPr lvl="1"/>
            <a:r>
              <a:rPr lang="en-CA" dirty="0"/>
              <a:t>Imports only something </a:t>
            </a:r>
            <a:r>
              <a:rPr lang="en-CA" dirty="0">
                <a:solidFill>
                  <a:schemeClr val="accent6"/>
                </a:solidFill>
              </a:rPr>
              <a:t>(</a:t>
            </a:r>
            <a:r>
              <a:rPr lang="en-CA" dirty="0"/>
              <a:t>function</a:t>
            </a:r>
            <a:r>
              <a:rPr lang="en-CA" dirty="0">
                <a:solidFill>
                  <a:schemeClr val="accent6"/>
                </a:solidFill>
              </a:rPr>
              <a:t>,</a:t>
            </a:r>
            <a:r>
              <a:rPr lang="en-CA" dirty="0"/>
              <a:t> class</a:t>
            </a:r>
            <a:r>
              <a:rPr lang="en-CA" dirty="0">
                <a:solidFill>
                  <a:schemeClr val="accent6"/>
                </a:solidFill>
              </a:rPr>
              <a:t>,</a:t>
            </a:r>
            <a:r>
              <a:rPr lang="en-CA" dirty="0"/>
              <a:t> or variable</a:t>
            </a:r>
            <a:r>
              <a:rPr lang="en-CA" dirty="0">
                <a:solidFill>
                  <a:schemeClr val="accent6"/>
                </a:solidFill>
              </a:rPr>
              <a:t>).</a:t>
            </a:r>
          </a:p>
          <a:p>
            <a:pPr lvl="1"/>
            <a:r>
              <a:rPr lang="en-CA" dirty="0"/>
              <a:t>You can access something without needing 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module_name.something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marL="457200" lvl="1" indent="0">
              <a:buNone/>
            </a:pPr>
            <a:endParaRPr lang="en-CA" dirty="0"/>
          </a:p>
          <a:p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module_name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*</a:t>
            </a:r>
          </a:p>
          <a:p>
            <a:pPr lvl="1"/>
            <a:r>
              <a:rPr lang="en-CA" dirty="0"/>
              <a:t>Imports everything from that module directly into your file </a:t>
            </a:r>
            <a:r>
              <a:rPr lang="en-CA" dirty="0">
                <a:solidFill>
                  <a:schemeClr val="accent6"/>
                </a:solidFill>
              </a:rPr>
              <a:t>(</a:t>
            </a:r>
            <a:r>
              <a:rPr lang="en-CA" dirty="0"/>
              <a:t>and scope or </a:t>
            </a:r>
            <a:r>
              <a:rPr lang="en-CA" dirty="0">
                <a:solidFill>
                  <a:schemeClr val="accent6"/>
                </a:solidFill>
              </a:rPr>
              <a:t>‘</a:t>
            </a:r>
            <a:r>
              <a:rPr lang="en-CA" dirty="0"/>
              <a:t>namespace</a:t>
            </a:r>
            <a:r>
              <a:rPr lang="en-CA" dirty="0">
                <a:solidFill>
                  <a:schemeClr val="accent6"/>
                </a:solidFill>
              </a:rPr>
              <a:t>’).</a:t>
            </a:r>
          </a:p>
          <a:p>
            <a:pPr lvl="1"/>
            <a:r>
              <a:rPr lang="en-CA" dirty="0"/>
              <a:t>Use sparingly to avoid name conflicts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39D27-9952-856D-0DA7-7A42741EF00A}"/>
              </a:ext>
            </a:extLst>
          </p:cNvPr>
          <p:cNvSpPr txBox="1"/>
          <p:nvPr/>
        </p:nvSpPr>
        <p:spPr>
          <a:xfrm>
            <a:off x="7636042" y="1184405"/>
            <a:ext cx="3906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GB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math</a:t>
            </a:r>
          </a:p>
          <a:p>
            <a:r>
              <a:rPr lang="en-GB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GB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GB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(16)) # 4.0</a:t>
            </a:r>
          </a:p>
        </p:txBody>
      </p:sp>
    </p:spTree>
    <p:extLst>
      <p:ext uri="{BB962C8B-B14F-4D97-AF65-F5344CB8AC3E}">
        <p14:creationId xmlns:p14="http://schemas.microsoft.com/office/powerpoint/2010/main" val="158593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6B5D5-96CA-3DF6-AB09-33A8937CE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Why Modules</a:t>
            </a:r>
            <a:r>
              <a:rPr lang="en-CA" b="1" dirty="0">
                <a:solidFill>
                  <a:schemeClr val="accent6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BB0B7-6015-ECA6-96E0-6B52AC214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>
                <a:solidFill>
                  <a:schemeClr val="accent6"/>
                </a:solidFill>
              </a:rPr>
              <a:t>Modularity</a:t>
            </a:r>
            <a:r>
              <a:rPr lang="en-CA" dirty="0"/>
              <a:t>:</a:t>
            </a:r>
            <a:r>
              <a:rPr lang="en-CA" dirty="0">
                <a:solidFill>
                  <a:schemeClr val="accent6"/>
                </a:solidFill>
              </a:rPr>
              <a:t> </a:t>
            </a:r>
            <a:r>
              <a:rPr lang="en-CA" dirty="0"/>
              <a:t>Split large applications into smaller, manageable pieces</a:t>
            </a:r>
          </a:p>
          <a:p>
            <a:pPr lvl="1"/>
            <a:r>
              <a:rPr lang="en-CA" dirty="0"/>
              <a:t>Think back our fancy dictionary printing function called </a:t>
            </a:r>
            <a:r>
              <a:rPr lang="en-CA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dict_print</a:t>
            </a:r>
            <a:r>
              <a:rPr lang="en-CA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/>
              <a:t>that we imported from our custom </a:t>
            </a:r>
            <a:r>
              <a:rPr lang="en-CA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utils</a:t>
            </a:r>
            <a:r>
              <a:rPr lang="en-CA" dirty="0"/>
              <a:t> module. </a:t>
            </a:r>
          </a:p>
          <a:p>
            <a:r>
              <a:rPr lang="en-CA" dirty="0">
                <a:solidFill>
                  <a:schemeClr val="accent6"/>
                </a:solidFill>
              </a:rPr>
              <a:t>Reusability</a:t>
            </a:r>
            <a:r>
              <a:rPr lang="en-CA" dirty="0"/>
              <a:t>: Reuse functions across multiple projects (don’t rewrite the wheel!)</a:t>
            </a:r>
          </a:p>
          <a:p>
            <a:pPr lvl="1"/>
            <a:r>
              <a:rPr lang="en-CA" dirty="0"/>
              <a:t>Now you can import </a:t>
            </a:r>
            <a:r>
              <a:rPr lang="en-CA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dict_print</a:t>
            </a:r>
            <a:r>
              <a:rPr lang="en-CA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/>
              <a:t>into any new python file, instead of needing to copy and paste the function into each file to use it</a:t>
            </a:r>
          </a:p>
          <a:p>
            <a:r>
              <a:rPr lang="en-CA" dirty="0">
                <a:solidFill>
                  <a:schemeClr val="accent6"/>
                </a:solidFill>
              </a:rPr>
              <a:t>Maintainability</a:t>
            </a:r>
            <a:r>
              <a:rPr lang="en-CA" dirty="0"/>
              <a:t>: Isolate functionality in separate files for easier updates</a:t>
            </a:r>
          </a:p>
          <a:p>
            <a:pPr lvl="1"/>
            <a:r>
              <a:rPr lang="en-CA" dirty="0"/>
              <a:t>Improve your </a:t>
            </a:r>
            <a:r>
              <a:rPr lang="en-CA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utils</a:t>
            </a:r>
            <a:r>
              <a:rPr lang="en-CA" dirty="0"/>
              <a:t> module or add more fancy printing functions to utils without breaking any of your existing files</a:t>
            </a:r>
          </a:p>
          <a:p>
            <a:r>
              <a:rPr lang="en-CA" dirty="0">
                <a:solidFill>
                  <a:schemeClr val="accent6"/>
                </a:solidFill>
              </a:rPr>
              <a:t>Collaboration</a:t>
            </a:r>
            <a:r>
              <a:rPr lang="en-CA" dirty="0"/>
              <a:t>: Multiple developers can work on different modules in parallel</a:t>
            </a:r>
          </a:p>
        </p:txBody>
      </p:sp>
    </p:spTree>
    <p:extLst>
      <p:ext uri="{BB962C8B-B14F-4D97-AF65-F5344CB8AC3E}">
        <p14:creationId xmlns:p14="http://schemas.microsoft.com/office/powerpoint/2010/main" val="104991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892C-CC2F-B33A-8887-CBE501B0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Build Your Own Modules</a:t>
            </a:r>
            <a:r>
              <a:rPr lang="en-CA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41E8B-3AD8-697C-E17B-81E08A54E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Step 1</a:t>
            </a:r>
            <a:r>
              <a:rPr lang="en-GB" dirty="0">
                <a:solidFill>
                  <a:schemeClr val="accent6"/>
                </a:solidFill>
              </a:rPr>
              <a:t>:</a:t>
            </a:r>
            <a:r>
              <a:rPr lang="en-GB" dirty="0"/>
              <a:t> Create a </a:t>
            </a:r>
            <a:r>
              <a:rPr lang="en-GB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GB" dirty="0"/>
              <a:t> file with functions</a:t>
            </a:r>
            <a:r>
              <a:rPr lang="en-GB" dirty="0">
                <a:solidFill>
                  <a:schemeClr val="accent6"/>
                </a:solidFill>
              </a:rPr>
              <a:t>,</a:t>
            </a:r>
            <a:r>
              <a:rPr lang="en-GB" dirty="0"/>
              <a:t> variables</a:t>
            </a:r>
            <a:r>
              <a:rPr lang="en-GB" dirty="0">
                <a:solidFill>
                  <a:schemeClr val="accent6"/>
                </a:solidFill>
              </a:rPr>
              <a:t>,</a:t>
            </a:r>
            <a:r>
              <a:rPr lang="en-GB" dirty="0"/>
              <a:t> etc</a:t>
            </a:r>
            <a:r>
              <a:rPr lang="en-GB" dirty="0">
                <a:solidFill>
                  <a:schemeClr val="accent6"/>
                </a:solidFill>
              </a:rPr>
              <a:t>.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b="1" dirty="0"/>
              <a:t>Step 2</a:t>
            </a:r>
            <a:r>
              <a:rPr lang="en-CA" dirty="0">
                <a:solidFill>
                  <a:schemeClr val="accent6"/>
                </a:solidFill>
              </a:rPr>
              <a:t>:</a:t>
            </a:r>
            <a:r>
              <a:rPr lang="en-CA" dirty="0"/>
              <a:t> Import your module into another file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4F437-2F26-2F80-CE34-F0D047923ED2}"/>
              </a:ext>
            </a:extLst>
          </p:cNvPr>
          <p:cNvSpPr txBox="1"/>
          <p:nvPr/>
        </p:nvSpPr>
        <p:spPr>
          <a:xfrm>
            <a:off x="1070042" y="2489037"/>
            <a:ext cx="37743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#inside </a:t>
            </a:r>
            <a:r>
              <a:rPr lang="en-CA" b="1" dirty="0" err="1">
                <a:solidFill>
                  <a:schemeClr val="tx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mymodule.py</a:t>
            </a:r>
            <a:endParaRPr lang="en-CA" b="1" dirty="0">
              <a:solidFill>
                <a:schemeClr val="tx1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A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 = 3.14</a:t>
            </a:r>
          </a:p>
          <a:p>
            <a:endParaRPr lang="en-CA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and_one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(x):</a:t>
            </a:r>
          </a:p>
          <a:p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x + 1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A02567-A0FD-9F2E-45DC-8ED7EC8FD507}"/>
              </a:ext>
            </a:extLst>
          </p:cNvPr>
          <p:cNvSpPr txBox="1"/>
          <p:nvPr/>
        </p:nvSpPr>
        <p:spPr>
          <a:xfrm>
            <a:off x="1070042" y="5033107"/>
            <a:ext cx="6984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mymodule</a:t>
            </a:r>
            <a:endParaRPr lang="en-CA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A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my_pi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mymodule.pi</a:t>
            </a:r>
            <a:endParaRPr lang="en-CA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A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mymodule.and_one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my_pi</a:t>
            </a:r>
            <a:r>
              <a:rPr lang="en-CA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#prints 4.14</a:t>
            </a:r>
          </a:p>
        </p:txBody>
      </p:sp>
    </p:spTree>
    <p:extLst>
      <p:ext uri="{BB962C8B-B14F-4D97-AF65-F5344CB8AC3E}">
        <p14:creationId xmlns:p14="http://schemas.microsoft.com/office/powerpoint/2010/main" val="2318162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700B2-7F17-942C-3151-0C9FEB8CB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CD07F-CE1D-91C1-3C06-3A144765F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Let</a:t>
            </a:r>
            <a:r>
              <a:rPr lang="en-US" b="1" dirty="0">
                <a:solidFill>
                  <a:srgbClr val="00FF00"/>
                </a:solidFill>
              </a:rPr>
              <a:t>’</a:t>
            </a:r>
            <a:r>
              <a:rPr lang="en-US" b="1" dirty="0"/>
              <a:t>s Code</a:t>
            </a:r>
            <a:r>
              <a:rPr lang="en-US" b="1" dirty="0">
                <a:solidFill>
                  <a:srgbClr val="00FF00"/>
                </a:solidFill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3E738-4D83-0CFB-6C3E-2C9285B17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</a:t>
            </a:r>
            <a:r>
              <a:rPr lang="en-CA" dirty="0">
                <a:solidFill>
                  <a:schemeClr val="accent6"/>
                </a:solidFill>
              </a:rPr>
              <a:t>’</a:t>
            </a:r>
            <a:r>
              <a:rPr lang="en-CA" dirty="0"/>
              <a:t>s take a look at how this works in Python</a:t>
            </a:r>
            <a:r>
              <a:rPr lang="en-CA" dirty="0">
                <a:solidFill>
                  <a:schemeClr val="accent6"/>
                </a:solidFill>
              </a:rPr>
              <a:t>!</a:t>
            </a:r>
          </a:p>
          <a:p>
            <a:pPr lvl="1"/>
            <a:r>
              <a:rPr lang="en-CA" dirty="0"/>
              <a:t>Importing modules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r>
              <a:rPr lang="en-CA" dirty="0"/>
              <a:t>Renaming modules and controlling our namespace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r>
              <a:rPr lang="en-CA" dirty="0"/>
              <a:t>Building our own custom modules</a:t>
            </a:r>
            <a:r>
              <a:rPr lang="en-CA" dirty="0">
                <a:solidFill>
                  <a:schemeClr val="accent6"/>
                </a:solidFill>
              </a:rPr>
              <a:t>.</a:t>
            </a:r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11761CD1-1903-9ADB-AE4C-87D5248137DE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8. Modules</a:t>
            </a:r>
          </a:p>
        </p:txBody>
      </p:sp>
    </p:spTree>
    <p:extLst>
      <p:ext uri="{BB962C8B-B14F-4D97-AF65-F5344CB8AC3E}">
        <p14:creationId xmlns:p14="http://schemas.microsoft.com/office/powerpoint/2010/main" val="29364901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9869E-7C59-AB0F-F91F-713FB4BB2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2F33E3E-3071-850D-8C10-35E92B543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>
            <a:normAutofit/>
          </a:bodyPr>
          <a:lstStyle/>
          <a:p>
            <a:r>
              <a:rPr lang="en-US" dirty="0"/>
              <a:t>Files</a:t>
            </a:r>
            <a:r>
              <a:rPr lang="en-US" dirty="0">
                <a:solidFill>
                  <a:srgbClr val="00FF00"/>
                </a:solidFill>
              </a:rPr>
              <a:t>,</a:t>
            </a:r>
            <a:r>
              <a:rPr lang="en-US" dirty="0"/>
              <a:t> CSV</a:t>
            </a:r>
            <a:r>
              <a:rPr lang="en-US" dirty="0">
                <a:solidFill>
                  <a:srgbClr val="00FF00"/>
                </a:solidFill>
              </a:rPr>
              <a:t>s</a:t>
            </a:r>
            <a:r>
              <a:rPr lang="en-US" dirty="0"/>
              <a:t> and Modules</a:t>
            </a:r>
            <a:r>
              <a:rPr lang="en-US" dirty="0">
                <a:solidFill>
                  <a:srgbClr val="00FF00"/>
                </a:solidFill>
              </a:rPr>
              <a:t>.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E031E00-20E3-ECEA-07B1-61C9165F2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11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11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50626673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Theme">
  <a:themeElements>
    <a:clrScheme name="Custom 2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061FF"/>
      </a:accent1>
      <a:accent2>
        <a:srgbClr val="0061FF"/>
      </a:accent2>
      <a:accent3>
        <a:srgbClr val="0061FF"/>
      </a:accent3>
      <a:accent4>
        <a:srgbClr val="7B8994"/>
      </a:accent4>
      <a:accent5>
        <a:srgbClr val="7B8994"/>
      </a:accent5>
      <a:accent6>
        <a:srgbClr val="F7B41A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Theme" id="{3BEEB87C-8A6C-443F-995D-4A4893CCEBD8}" vid="{9B7A7CDB-8752-4A8C-8C1A-92E8A92114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APS106_Theme</Template>
  <TotalTime>40758</TotalTime>
  <Words>2139</Words>
  <Application>Microsoft Office PowerPoint</Application>
  <PresentationFormat>Widescreen</PresentationFormat>
  <Paragraphs>330</Paragraphs>
  <Slides>27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MS Mincho</vt:lpstr>
      <vt:lpstr>Arial</vt:lpstr>
      <vt:lpstr>Calibri</vt:lpstr>
      <vt:lpstr>Courier New</vt:lpstr>
      <vt:lpstr>Segoe UI</vt:lpstr>
      <vt:lpstr>Times New Roman</vt:lpstr>
      <vt:lpstr>Wingdings</vt:lpstr>
      <vt:lpstr>APS106_Theme</vt:lpstr>
      <vt:lpstr>Files, CSVs and Modules.</vt:lpstr>
      <vt:lpstr>This Week’s Content</vt:lpstr>
      <vt:lpstr>The ”Writing to Files” Recipe.</vt:lpstr>
      <vt:lpstr>Let’s Code!</vt:lpstr>
      <vt:lpstr>Different Ways of Reading a File.</vt:lpstr>
      <vt:lpstr>Different ways of Reading a File.</vt:lpstr>
      <vt:lpstr>Let’s Code!</vt:lpstr>
      <vt:lpstr>The with Statement</vt:lpstr>
      <vt:lpstr>Example: with Statement.</vt:lpstr>
      <vt:lpstr>Let’s Code!</vt:lpstr>
      <vt:lpstr>Comma Separated Values files.</vt:lpstr>
      <vt:lpstr>CSV Files.</vt:lpstr>
      <vt:lpstr>Example: Opening a CSV File</vt:lpstr>
      <vt:lpstr>Reading CSV Files</vt:lpstr>
      <vt:lpstr>Example: Reading a CSV File (open/close).</vt:lpstr>
      <vt:lpstr>Writing CSV Files.</vt:lpstr>
      <vt:lpstr>Example: CSV Files</vt:lpstr>
      <vt:lpstr>Opening CSV File in Excel.</vt:lpstr>
      <vt:lpstr>Let’s Code!</vt:lpstr>
      <vt:lpstr>Summary: Reading Files.</vt:lpstr>
      <vt:lpstr>Summary: Writing Files.</vt:lpstr>
      <vt:lpstr>Modules.</vt:lpstr>
      <vt:lpstr>Importing Modules.</vt:lpstr>
      <vt:lpstr>Why Modules?</vt:lpstr>
      <vt:lpstr>Build Your Own Modules.</vt:lpstr>
      <vt:lpstr>Let’s Code!</vt:lpstr>
      <vt:lpstr>Files, CSVs and Modules.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Rebecca Alcock</cp:lastModifiedBy>
  <cp:revision>257</cp:revision>
  <dcterms:created xsi:type="dcterms:W3CDTF">2021-11-03T00:49:37Z</dcterms:created>
  <dcterms:modified xsi:type="dcterms:W3CDTF">2026-03-26T19:54:42Z</dcterms:modified>
</cp:coreProperties>
</file>