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32"/>
  </p:notesMasterIdLst>
  <p:sldIdLst>
    <p:sldId id="256" r:id="rId2"/>
    <p:sldId id="259" r:id="rId3"/>
    <p:sldId id="415" r:id="rId4"/>
    <p:sldId id="420" r:id="rId5"/>
    <p:sldId id="406" r:id="rId6"/>
    <p:sldId id="416" r:id="rId7"/>
    <p:sldId id="404" r:id="rId8"/>
    <p:sldId id="407" r:id="rId9"/>
    <p:sldId id="332" r:id="rId10"/>
    <p:sldId id="334" r:id="rId11"/>
    <p:sldId id="335" r:id="rId12"/>
    <p:sldId id="399" r:id="rId13"/>
    <p:sldId id="402" r:id="rId14"/>
    <p:sldId id="421" r:id="rId15"/>
    <p:sldId id="366" r:id="rId16"/>
    <p:sldId id="367" r:id="rId17"/>
    <p:sldId id="368" r:id="rId18"/>
    <p:sldId id="373" r:id="rId19"/>
    <p:sldId id="369" r:id="rId20"/>
    <p:sldId id="374" r:id="rId21"/>
    <p:sldId id="375" r:id="rId22"/>
    <p:sldId id="372" r:id="rId23"/>
    <p:sldId id="400" r:id="rId24"/>
    <p:sldId id="328" r:id="rId25"/>
    <p:sldId id="395" r:id="rId26"/>
    <p:sldId id="396" r:id="rId27"/>
    <p:sldId id="397" r:id="rId28"/>
    <p:sldId id="398" r:id="rId29"/>
    <p:sldId id="401" r:id="rId30"/>
    <p:sldId id="26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754" autoAdjust="0"/>
    <p:restoredTop sz="94660"/>
  </p:normalViewPr>
  <p:slideViewPr>
    <p:cSldViewPr snapToGrid="0">
      <p:cViewPr varScale="1">
        <p:scale>
          <a:sx n="60" d="100"/>
          <a:sy n="60" d="100"/>
        </p:scale>
        <p:origin x="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08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2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77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62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90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90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55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10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1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42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85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35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17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95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70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str1%20%3D%20%22abcd%22%0Astr2%20%3D%20str1%0Astr1%20%3D%20str1%2B%22e%22%0A%0Alst1%20%3D%20%5B11,%2012,%2013,%2014,%2015,%2016,%2027%5D%0Alst2%20%3D%20lst1%0Alst1%5B-1%5D%20%3D%2018&amp;cumulative=false&amp;curInstr=0&amp;heapPrimitives=false&amp;mode=display&amp;origin=opt-frontend.js&amp;py=3&amp;rawInputLstJSON=%5B%5D&amp;textReferences=fals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tinyurl.com/aps106alia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lst1%20%3D%20%5B11,%2012,%2013,%2014,%2015,%2016,%2027%5D%0Alst2%20%3D%20lst1%0Alst1%5B-1%5D%20%3D%2017%0A%0Alst3%20%3D%20list%28lst1%29%0Alst4%20%3D%20lst1%5B%3A%5D&amp;cumulative=false&amp;curInstr=0&amp;heapPrimitives=false&amp;mode=display&amp;origin=opt-frontend.js&amp;py=3&amp;rawInputLstJSON=%5B%5D&amp;textReferences=fals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Lists: indexing and slicing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7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7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7.1</a:t>
            </a:r>
          </a:p>
          <a:p>
            <a:pPr lvl="1"/>
            <a:r>
              <a:rPr lang="en-US" b="1" dirty="0"/>
              <a:t>Lists: indexing and slicing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7.2</a:t>
            </a:r>
          </a:p>
          <a:p>
            <a:pPr lvl="1"/>
            <a:r>
              <a:rPr lang="en-US" dirty="0"/>
              <a:t>Lists: nested lists and looping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7.3</a:t>
            </a:r>
          </a:p>
          <a:p>
            <a:pPr lvl="1"/>
            <a:r>
              <a:rPr lang="en-US" dirty="0"/>
              <a:t>Design Problem! Connect 4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7ECA-E2FE-C443-935A-9744B836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Midterm: March 12</a:t>
            </a:r>
          </a:p>
        </p:txBody>
      </p:sp>
      <p:pic>
        <p:nvPicPr>
          <p:cNvPr id="3" name="Picture 2" descr="Midterm Survival Guide | Her Campus | Gandalf, Hello kitty, The hobbit">
            <a:extLst>
              <a:ext uri="{FF2B5EF4-FFF2-40B4-BE49-F238E27FC236}">
                <a16:creationId xmlns:a16="http://schemas.microsoft.com/office/drawing/2014/main" id="{368F040C-9ACB-0F12-52BA-72E9B74B5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9"/>
          <a:stretch/>
        </p:blipFill>
        <p:spPr bwMode="auto">
          <a:xfrm>
            <a:off x="4182949" y="1927003"/>
            <a:ext cx="3826101" cy="4203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36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B0826-A4A7-B74C-E55F-9908A1E9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8157-DC4F-2003-8407-0945F2D5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65A061-21FE-7EAF-9BBC-A751CB8E3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What is a list</a:t>
            </a:r>
          </a:p>
          <a:p>
            <a:r>
              <a:rPr lang="en-US" b="1" dirty="0"/>
              <a:t>How indexing (and slicing!) works</a:t>
            </a:r>
          </a:p>
          <a:p>
            <a:r>
              <a:rPr lang="en-US" b="1" dirty="0"/>
              <a:t>How to modify a list</a:t>
            </a:r>
          </a:p>
          <a:p>
            <a:r>
              <a:rPr lang="en-US" b="1" dirty="0"/>
              <a:t>Basic built-in list functions</a:t>
            </a:r>
          </a:p>
          <a:p>
            <a:r>
              <a:rPr lang="en-US" b="1" dirty="0"/>
              <a:t>How to loop through a list</a:t>
            </a:r>
          </a:p>
          <a:p>
            <a:r>
              <a:rPr lang="en-US" b="1" dirty="0"/>
              <a:t>How to check membership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28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D828D-ED06-8840-8EEE-4D78E6BF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160E2-EC09-4644-A08A-05CEBD9C1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71"/>
            <a:ext cx="10815537" cy="859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We want to keep track of characters in a complex show/book</a:t>
            </a:r>
          </a:p>
        </p:txBody>
      </p:sp>
      <p:pic>
        <p:nvPicPr>
          <p:cNvPr id="1026" name="Picture 2" descr="Matthew Stewart on Twitter: &amp;quot;Screen time data for the main cast of The Lord  of the Rings trilogy (25 actors whose names appear pre-crawl in the end  credits.) Here they are in">
            <a:extLst>
              <a:ext uri="{FF2B5EF4-FFF2-40B4-BE49-F238E27FC236}">
                <a16:creationId xmlns:a16="http://schemas.microsoft.com/office/drawing/2014/main" id="{90E1B306-F62C-B048-92E3-373927F12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156" y="2259284"/>
            <a:ext cx="2763216" cy="276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me Of Thrones Character Identification Quiz">
            <a:extLst>
              <a:ext uri="{FF2B5EF4-FFF2-40B4-BE49-F238E27FC236}">
                <a16:creationId xmlns:a16="http://schemas.microsoft.com/office/drawing/2014/main" id="{2E7AF25A-9B11-6E48-BCBE-59418E865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409" y="2255230"/>
            <a:ext cx="2461591" cy="276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ame of Thrones - Rotten Tomatoes">
            <a:extLst>
              <a:ext uri="{FF2B5EF4-FFF2-40B4-BE49-F238E27FC236}">
                <a16:creationId xmlns:a16="http://schemas.microsoft.com/office/drawing/2014/main" id="{FA44B372-9EED-E346-986F-8D6F9144C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063" y="2253878"/>
            <a:ext cx="2075346" cy="276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Lord of the Rings: The Fellowship of the Ring (2001) - IMDb">
            <a:extLst>
              <a:ext uri="{FF2B5EF4-FFF2-40B4-BE49-F238E27FC236}">
                <a16:creationId xmlns:a16="http://schemas.microsoft.com/office/drawing/2014/main" id="{FCE0CDD4-E77F-1B46-AF4E-2DBF7A95E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0" y="2256581"/>
            <a:ext cx="1856656" cy="276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78901-4D87-4447-8F9C-65D53BFD7484}"/>
              </a:ext>
            </a:extLst>
          </p:cNvPr>
          <p:cNvSpPr txBox="1">
            <a:spLocks/>
          </p:cNvSpPr>
          <p:nvPr/>
        </p:nvSpPr>
        <p:spPr>
          <a:xfrm>
            <a:off x="4903954" y="2264176"/>
            <a:ext cx="2461592" cy="2765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dirty="0"/>
              <a:t>Name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Actor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Personality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Age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Title/Powers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41A824-4B6A-8341-9D06-D91EDAA22D82}"/>
              </a:ext>
            </a:extLst>
          </p:cNvPr>
          <p:cNvSpPr txBox="1">
            <a:spLocks/>
          </p:cNvSpPr>
          <p:nvPr/>
        </p:nvSpPr>
        <p:spPr>
          <a:xfrm>
            <a:off x="340462" y="5279902"/>
            <a:ext cx="11811012" cy="1539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could store values in a string? </a:t>
            </a:r>
          </a:p>
          <a:p>
            <a:r>
              <a:rPr lang="en-US" dirty="0"/>
              <a:t>We could have unique variable names for each person?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FF00"/>
                </a:solidFill>
                <a:latin typeface="Courier" pitchFamily="2" charset="0"/>
              </a:rPr>
              <a:t>gandalf_age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= 24000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FF00"/>
                </a:solidFill>
                <a:latin typeface="Courier" pitchFamily="2" charset="0"/>
              </a:rPr>
              <a:t>frodo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= ”Frodo-Elijah Wood-brave, observant, and unfailingly polite-51-Ring bearer"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 need an efficient way to do this.</a:t>
            </a:r>
          </a:p>
        </p:txBody>
      </p:sp>
    </p:spTree>
    <p:extLst>
      <p:ext uri="{BB962C8B-B14F-4D97-AF65-F5344CB8AC3E}">
        <p14:creationId xmlns:p14="http://schemas.microsoft.com/office/powerpoint/2010/main" val="288095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D828D-ED06-8840-8EEE-4D78E6BF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</a:t>
            </a:r>
          </a:p>
        </p:txBody>
      </p:sp>
      <p:pic>
        <p:nvPicPr>
          <p:cNvPr id="1026" name="Picture 2" descr="Matthew Stewart on Twitter: &amp;quot;Screen time data for the main cast of The Lord  of the Rings trilogy (25 actors whose names appear pre-crawl in the end  credits.) Here they are in">
            <a:extLst>
              <a:ext uri="{FF2B5EF4-FFF2-40B4-BE49-F238E27FC236}">
                <a16:creationId xmlns:a16="http://schemas.microsoft.com/office/drawing/2014/main" id="{90E1B306-F62C-B048-92E3-373927F12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087" y="884883"/>
            <a:ext cx="2763216" cy="276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Lord of the Rings: The Fellowship of the Ring (2001) - IMDb">
            <a:extLst>
              <a:ext uri="{FF2B5EF4-FFF2-40B4-BE49-F238E27FC236}">
                <a16:creationId xmlns:a16="http://schemas.microsoft.com/office/drawing/2014/main" id="{FCE0CDD4-E77F-1B46-AF4E-2DBF7A95E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431" y="884882"/>
            <a:ext cx="1856656" cy="276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41A824-4B6A-8341-9D06-D91EDAA22D82}"/>
              </a:ext>
            </a:extLst>
          </p:cNvPr>
          <p:cNvSpPr txBox="1">
            <a:spLocks/>
          </p:cNvSpPr>
          <p:nvPr/>
        </p:nvSpPr>
        <p:spPr>
          <a:xfrm>
            <a:off x="297167" y="3883693"/>
            <a:ext cx="11377998" cy="1121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could have unique variable names for each person, including name, actor, personality, age and power?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FF00"/>
                </a:solidFill>
                <a:latin typeface="Courier" pitchFamily="2" charset="0"/>
              </a:rPr>
              <a:t>frodo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= ”Frodo-Elijah Wood-brave, observant, and unfailingly polite-51-Ring bearer”</a:t>
            </a:r>
            <a:br>
              <a:rPr lang="en-US" dirty="0">
                <a:solidFill>
                  <a:srgbClr val="00FF00"/>
                </a:solidFill>
                <a:latin typeface="Courier" pitchFamily="2" charset="0"/>
              </a:rPr>
            </a:br>
            <a:endParaRPr lang="en-US" dirty="0">
              <a:solidFill>
                <a:srgbClr val="00FF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#we could use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frodo.split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(‘-’) or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frodo.find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(‘-’) to split at or find the dashes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4016D4-A5DC-963A-CF57-ECFFB3C7F91E}"/>
              </a:ext>
            </a:extLst>
          </p:cNvPr>
          <p:cNvSpPr txBox="1">
            <a:spLocks/>
          </p:cNvSpPr>
          <p:nvPr/>
        </p:nvSpPr>
        <p:spPr>
          <a:xfrm>
            <a:off x="297167" y="1880589"/>
            <a:ext cx="6675489" cy="150617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could store values in a string or other individual variables?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FF00"/>
                </a:solidFill>
                <a:latin typeface="Courier" pitchFamily="2" charset="0"/>
              </a:rPr>
              <a:t>gandalf_name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= ”Gandalf the Grey”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FF00"/>
                </a:solidFill>
                <a:latin typeface="Courier" pitchFamily="2" charset="0"/>
              </a:rPr>
              <a:t>gandalf_age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= 24000</a:t>
            </a:r>
          </a:p>
          <a:p>
            <a:pPr marL="0" indent="0">
              <a:buNone/>
            </a:pP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#all other values for Gandalf in separate variables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5DDD15A-F260-9700-C904-B25232DA895A}"/>
              </a:ext>
            </a:extLst>
          </p:cNvPr>
          <p:cNvSpPr txBox="1">
            <a:spLocks/>
          </p:cNvSpPr>
          <p:nvPr/>
        </p:nvSpPr>
        <p:spPr>
          <a:xfrm>
            <a:off x="297167" y="5269024"/>
            <a:ext cx="11377998" cy="70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need a more efficient way to do this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D7D4D9-52DB-99E0-62F1-EC20A72EEEB1}"/>
              </a:ext>
            </a:extLst>
          </p:cNvPr>
          <p:cNvSpPr/>
          <p:nvPr/>
        </p:nvSpPr>
        <p:spPr>
          <a:xfrm>
            <a:off x="1868557" y="4141707"/>
            <a:ext cx="331304" cy="320586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D1BC50-E42A-DE6E-FE31-7EB10BFD5EA0}"/>
              </a:ext>
            </a:extLst>
          </p:cNvPr>
          <p:cNvSpPr/>
          <p:nvPr/>
        </p:nvSpPr>
        <p:spPr>
          <a:xfrm>
            <a:off x="3213653" y="4141707"/>
            <a:ext cx="331304" cy="320586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4B47AD-90D6-D71A-C5CA-F1DDB80546B0}"/>
              </a:ext>
            </a:extLst>
          </p:cNvPr>
          <p:cNvSpPr/>
          <p:nvPr/>
        </p:nvSpPr>
        <p:spPr>
          <a:xfrm>
            <a:off x="7936715" y="4141707"/>
            <a:ext cx="331304" cy="320586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9A49BC-6827-DD65-AD9E-C5BA89B505FF}"/>
              </a:ext>
            </a:extLst>
          </p:cNvPr>
          <p:cNvSpPr/>
          <p:nvPr/>
        </p:nvSpPr>
        <p:spPr>
          <a:xfrm>
            <a:off x="8293052" y="4141707"/>
            <a:ext cx="331304" cy="320586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699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1" animBg="1"/>
      <p:bldP spid="15" grpId="1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1EB-CAB7-4E49-BAEA-5CF54EEF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way: Tables or Lists!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0188593-BF9B-F641-922E-7F6444673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925218"/>
              </p:ext>
            </p:extLst>
          </p:nvPr>
        </p:nvGraphicFramePr>
        <p:xfrm>
          <a:off x="491490" y="1840865"/>
          <a:ext cx="800315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631">
                  <a:extLst>
                    <a:ext uri="{9D8B030D-6E8A-4147-A177-3AD203B41FA5}">
                      <a16:colId xmlns:a16="http://schemas.microsoft.com/office/drawing/2014/main" val="1722023654"/>
                    </a:ext>
                  </a:extLst>
                </a:gridCol>
                <a:gridCol w="1600631">
                  <a:extLst>
                    <a:ext uri="{9D8B030D-6E8A-4147-A177-3AD203B41FA5}">
                      <a16:colId xmlns:a16="http://schemas.microsoft.com/office/drawing/2014/main" val="1628704366"/>
                    </a:ext>
                  </a:extLst>
                </a:gridCol>
                <a:gridCol w="1600631">
                  <a:extLst>
                    <a:ext uri="{9D8B030D-6E8A-4147-A177-3AD203B41FA5}">
                      <a16:colId xmlns:a16="http://schemas.microsoft.com/office/drawing/2014/main" val="1571689007"/>
                    </a:ext>
                  </a:extLst>
                </a:gridCol>
                <a:gridCol w="1600631">
                  <a:extLst>
                    <a:ext uri="{9D8B030D-6E8A-4147-A177-3AD203B41FA5}">
                      <a16:colId xmlns:a16="http://schemas.microsoft.com/office/drawing/2014/main" val="3117678027"/>
                    </a:ext>
                  </a:extLst>
                </a:gridCol>
                <a:gridCol w="1600631">
                  <a:extLst>
                    <a:ext uri="{9D8B030D-6E8A-4147-A177-3AD203B41FA5}">
                      <a16:colId xmlns:a16="http://schemas.microsoft.com/office/drawing/2014/main" val="3007775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Personality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Powers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967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40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Frodo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415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Gandalf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28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Galadriel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60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Pippin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2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Aragorn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2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Legolas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724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err="1"/>
                        <a:t>Eowyn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96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Gollum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96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Arwen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71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Merry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5123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45E4CC-CDF6-C144-973C-E1C94D993B23}"/>
              </a:ext>
            </a:extLst>
          </p:cNvPr>
          <p:cNvSpPr txBox="1">
            <a:spLocks/>
          </p:cNvSpPr>
          <p:nvPr/>
        </p:nvSpPr>
        <p:spPr>
          <a:xfrm>
            <a:off x="9025724" y="2545911"/>
            <a:ext cx="2968156" cy="27657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Need to: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Create rows of data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Create columns of data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Be able to access a specific cell/index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18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Structures!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85" y="1661993"/>
            <a:ext cx="6182062" cy="4751447"/>
          </a:xfrm>
        </p:spPr>
        <p:txBody>
          <a:bodyPr>
            <a:normAutofit fontScale="92500" lnSpcReduction="20000"/>
          </a:bodyPr>
          <a:lstStyle/>
          <a:p>
            <a:pPr marL="0" marR="767715" indent="0">
              <a:lnSpc>
                <a:spcPct val="100000"/>
              </a:lnSpc>
              <a:buNone/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Data structures are </a:t>
            </a:r>
            <a:r>
              <a:rPr lang="en-CA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“containers” 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that organize and group data</a:t>
            </a:r>
          </a:p>
          <a:p>
            <a:pPr marL="0" marR="767715" indent="0">
              <a:lnSpc>
                <a:spcPct val="100000"/>
              </a:lnSpc>
              <a:buNone/>
            </a:pPr>
            <a:endParaRPr lang="en-CA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767715" indent="0">
              <a:lnSpc>
                <a:spcPct val="100000"/>
              </a:lnSpc>
              <a:buNone/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Built-in Python containers:</a:t>
            </a:r>
          </a:p>
          <a:p>
            <a:pPr marL="12700" marR="767715">
              <a:lnSpc>
                <a:spcPct val="100000"/>
              </a:lnSpc>
            </a:pPr>
            <a:r>
              <a:rPr lang="en-CA" spc="-1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Lists</a:t>
            </a:r>
          </a:p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Sets</a:t>
            </a:r>
          </a:p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Tuples</a:t>
            </a:r>
          </a:p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Dictionaries</a:t>
            </a:r>
          </a:p>
          <a:p>
            <a:pPr marL="12700" marR="767715">
              <a:lnSpc>
                <a:spcPct val="100000"/>
              </a:lnSpc>
            </a:pPr>
            <a:endParaRPr lang="en-CA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767715" indent="0">
              <a:lnSpc>
                <a:spcPct val="100000"/>
              </a:lnSpc>
              <a:buNone/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Custom containers</a:t>
            </a:r>
          </a:p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Custom classes/objects</a:t>
            </a:r>
          </a:p>
          <a:p>
            <a:pPr marL="12700" marR="767715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6DBB9-55F6-ECBD-235C-537076F8B3FA}"/>
              </a:ext>
            </a:extLst>
          </p:cNvPr>
          <p:cNvSpPr txBox="1"/>
          <p:nvPr/>
        </p:nvSpPr>
        <p:spPr>
          <a:xfrm>
            <a:off x="7161196" y="2871876"/>
            <a:ext cx="530351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767715">
              <a:lnSpc>
                <a:spcPct val="100000"/>
              </a:lnSpc>
            </a:pPr>
            <a:r>
              <a:rPr lang="en-CA" sz="2600" spc="-1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Structural/abstract containers:</a:t>
            </a:r>
          </a:p>
          <a:p>
            <a:pPr marL="469900" marR="767715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CA" sz="2600" spc="-1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Linked lists</a:t>
            </a:r>
          </a:p>
          <a:p>
            <a:pPr marL="469900" marR="767715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CA" sz="2600" spc="-1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Binary trees</a:t>
            </a:r>
          </a:p>
          <a:p>
            <a:pPr marL="469900" marR="767715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CA" sz="2600" spc="-1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Stacks</a:t>
            </a:r>
          </a:p>
          <a:p>
            <a:pPr marL="469900" marR="767715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CA" sz="2600" spc="-1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Queues</a:t>
            </a:r>
          </a:p>
          <a:p>
            <a:pPr marL="469900" marR="767715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CA" sz="2600" spc="-1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Arrays</a:t>
            </a:r>
          </a:p>
          <a:p>
            <a:pPr marL="469900" marR="767715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CA" sz="2600" spc="-1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Heaps</a:t>
            </a:r>
          </a:p>
        </p:txBody>
      </p:sp>
    </p:spTree>
    <p:extLst>
      <p:ext uri="{BB962C8B-B14F-4D97-AF65-F5344CB8AC3E}">
        <p14:creationId xmlns:p14="http://schemas.microsoft.com/office/powerpoint/2010/main" val="3444770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Type: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88" y="1779789"/>
            <a:ext cx="11001912" cy="4101043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Can store an </a:t>
            </a:r>
            <a:r>
              <a:rPr lang="en-CA" b="1" spc="-10" dirty="0">
                <a:latin typeface="Segoe UI" panose="020B0502040204020203" pitchFamily="34" charset="0"/>
                <a:cs typeface="Segoe UI" panose="020B0502040204020203" pitchFamily="34" charset="0"/>
              </a:rPr>
              <a:t>ordered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 collection of data using Python’s type </a:t>
            </a:r>
            <a:r>
              <a:rPr lang="en-CA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endParaRPr lang="en-CA" dirty="0">
              <a:solidFill>
                <a:schemeClr val="accent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/>
              <a:t>The general form of a list is: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Values are enclosed in (</a:t>
            </a:r>
            <a:r>
              <a:rPr lang="en-US" dirty="0">
                <a:solidFill>
                  <a:schemeClr val="accent2"/>
                </a:solidFill>
              </a:rPr>
              <a:t>[ ]</a:t>
            </a:r>
            <a:r>
              <a:rPr lang="en-US" dirty="0"/>
              <a:t>)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and separated by commas (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)</a:t>
            </a:r>
          </a:p>
          <a:p>
            <a:r>
              <a:rPr lang="en-US" dirty="0"/>
              <a:t>Can assign lists to a variable name: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80BAE-D3FA-C645-9C0D-F80031DFD7F0}"/>
              </a:ext>
            </a:extLst>
          </p:cNvPr>
          <p:cNvSpPr txBox="1"/>
          <p:nvPr/>
        </p:nvSpPr>
        <p:spPr>
          <a:xfrm>
            <a:off x="2616935" y="2845699"/>
            <a:ext cx="723948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val1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val2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val3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valN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FDD30-7FA8-AE48-AAA6-030362C4AD98}"/>
              </a:ext>
            </a:extLst>
          </p:cNvPr>
          <p:cNvSpPr txBox="1"/>
          <p:nvPr/>
        </p:nvSpPr>
        <p:spPr>
          <a:xfrm>
            <a:off x="1155255" y="5265279"/>
            <a:ext cx="985237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val1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val2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val3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valN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7435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List </a:t>
            </a:r>
            <a:r>
              <a:rPr lang="en-US" dirty="0"/>
              <a:t>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59" y="1825623"/>
            <a:ext cx="9852378" cy="4101043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r>
              <a:rPr lang="en-CA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 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elements can be of any type:</a:t>
            </a:r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CA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list 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can contain elements of more than one type: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55026-0656-4047-85E8-DEE1CF34F374}"/>
              </a:ext>
            </a:extLst>
          </p:cNvPr>
          <p:cNvSpPr txBox="1"/>
          <p:nvPr/>
        </p:nvSpPr>
        <p:spPr>
          <a:xfrm>
            <a:off x="516588" y="2555752"/>
            <a:ext cx="11354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subjects = 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‘bio’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‘programming’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‘math’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‘history’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1A9BA1-FCA3-1E49-9B62-5B3A35A9F764}"/>
              </a:ext>
            </a:extLst>
          </p:cNvPr>
          <p:cNvSpPr txBox="1"/>
          <p:nvPr/>
        </p:nvSpPr>
        <p:spPr>
          <a:xfrm>
            <a:off x="569259" y="3255809"/>
            <a:ext cx="55547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 = 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98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82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71A48-DC6B-6844-A1B5-A194AF359A6C}"/>
              </a:ext>
            </a:extLst>
          </p:cNvPr>
          <p:cNvSpPr txBox="1"/>
          <p:nvPr/>
        </p:nvSpPr>
        <p:spPr>
          <a:xfrm>
            <a:off x="569259" y="5230255"/>
            <a:ext cx="7917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street_address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‘Main Street’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496D3B-CC68-1047-9617-2B35BE41E440}"/>
              </a:ext>
            </a:extLst>
          </p:cNvPr>
          <p:cNvSpPr txBox="1"/>
          <p:nvPr/>
        </p:nvSpPr>
        <p:spPr>
          <a:xfrm>
            <a:off x="569259" y="5841893"/>
            <a:ext cx="9635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light = 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‘status’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  <a:r>
              <a:rPr lang="en-US" sz="2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‘intensity’</a:t>
            </a:r>
            <a:r>
              <a:rPr lang="en-US" sz="2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3.1</a:t>
            </a:r>
            <a:r>
              <a:rPr lang="en-US" sz="2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80459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List </a:t>
            </a:r>
            <a:r>
              <a:rPr lang="en-US" dirty="0"/>
              <a:t>Operations (Indexing and Slicing)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59" y="1825623"/>
            <a:ext cx="9852378" cy="4101043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CA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list 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can be indexed just like a string:</a:t>
            </a:r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CA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list 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can be sliced just like a string: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D73A7C1-25BA-D040-B9B8-E666A2666678}"/>
              </a:ext>
            </a:extLst>
          </p:cNvPr>
          <p:cNvSpPr txBox="1"/>
          <p:nvPr/>
        </p:nvSpPr>
        <p:spPr>
          <a:xfrm>
            <a:off x="1028087" y="2441176"/>
            <a:ext cx="7868487" cy="1895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grade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s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=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[80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90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70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45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98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57]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 marR="4386580">
              <a:lnSpc>
                <a:spcPts val="2870"/>
              </a:lnSpc>
              <a:spcBef>
                <a:spcPts val="125"/>
              </a:spcBef>
            </a:pP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grades[1]</a:t>
            </a:r>
            <a:endParaRPr lang="en-US" sz="2400" spc="-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 marR="4386580">
              <a:lnSpc>
                <a:spcPts val="2870"/>
              </a:lnSpc>
              <a:spcBef>
                <a:spcPts val="125"/>
              </a:spcBef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90</a:t>
            </a:r>
          </a:p>
          <a:p>
            <a:pPr marL="12700" marR="4386580">
              <a:lnSpc>
                <a:spcPts val="2870"/>
              </a:lnSpc>
              <a:spcBef>
                <a:spcPts val="125"/>
              </a:spcBef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grades[-3]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 marR="6212205">
              <a:lnSpc>
                <a:spcPts val="2870"/>
              </a:lnSpc>
              <a:spcBef>
                <a:spcPts val="30"/>
              </a:spcBef>
            </a:pP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45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6363758-B955-9842-8DEA-F51679A3371D}"/>
              </a:ext>
            </a:extLst>
          </p:cNvPr>
          <p:cNvSpPr txBox="1"/>
          <p:nvPr/>
        </p:nvSpPr>
        <p:spPr>
          <a:xfrm>
            <a:off x="1028087" y="5431351"/>
            <a:ext cx="2764155" cy="746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grades[0:2] [80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90]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969AB2B-7F41-034F-9B21-69A338C5873C}"/>
              </a:ext>
            </a:extLst>
          </p:cNvPr>
          <p:cNvSpPr txBox="1"/>
          <p:nvPr/>
        </p:nvSpPr>
        <p:spPr>
          <a:xfrm>
            <a:off x="6817494" y="5425355"/>
            <a:ext cx="3326967" cy="746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grades[</a:t>
            </a: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: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:</a:t>
            </a: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-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2] [</a:t>
            </a: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57, 45, 90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]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0322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BCEC-6729-D941-9DFD-F6ECCDB0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FC5D4-F836-514F-8823-2DB95B1E4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252791" cy="4835479"/>
          </a:xfrm>
        </p:spPr>
        <p:txBody>
          <a:bodyPr>
            <a:normAutofit/>
          </a:bodyPr>
          <a:lstStyle/>
          <a:p>
            <a:r>
              <a:rPr lang="en-US" sz="2200" dirty="0"/>
              <a:t>Lists can contain any type, including other lists!</a:t>
            </a:r>
          </a:p>
          <a:p>
            <a:pPr lvl="1"/>
            <a:r>
              <a:rPr lang="en-US" sz="2200" dirty="0"/>
              <a:t>Called “nested lists”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To access a nested item, first select the </a:t>
            </a:r>
            <a:r>
              <a:rPr lang="en-US" sz="2200" dirty="0" err="1"/>
              <a:t>sublist</a:t>
            </a:r>
            <a:r>
              <a:rPr lang="en-US" sz="2200" dirty="0"/>
              <a:t>, then treat as a regular list</a:t>
            </a:r>
          </a:p>
          <a:p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7ADD7-1A6C-8544-B563-78A76230BC70}"/>
              </a:ext>
            </a:extLst>
          </p:cNvPr>
          <p:cNvSpPr txBox="1"/>
          <p:nvPr/>
        </p:nvSpPr>
        <p:spPr>
          <a:xfrm>
            <a:off x="1884384" y="2535567"/>
            <a:ext cx="64556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list1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list2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listN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5169652-4638-6042-B7C8-22E0A049740F}"/>
              </a:ext>
            </a:extLst>
          </p:cNvPr>
          <p:cNvSpPr/>
          <p:nvPr/>
        </p:nvSpPr>
        <p:spPr>
          <a:xfrm>
            <a:off x="1219199" y="3192092"/>
            <a:ext cx="3299791" cy="441962"/>
          </a:xfrm>
          <a:custGeom>
            <a:avLst/>
            <a:gdLst/>
            <a:ahLst/>
            <a:cxnLst/>
            <a:rect l="l" t="t" r="r" b="b"/>
            <a:pathLst>
              <a:path w="3276600" h="304800">
                <a:moveTo>
                  <a:pt x="0" y="304602"/>
                </a:moveTo>
                <a:lnTo>
                  <a:pt x="837" y="264520"/>
                </a:lnTo>
                <a:lnTo>
                  <a:pt x="4908" y="211709"/>
                </a:lnTo>
                <a:lnTo>
                  <a:pt x="11735" y="171412"/>
                </a:lnTo>
                <a:lnTo>
                  <a:pt x="1611447" y="143472"/>
                </a:lnTo>
                <a:lnTo>
                  <a:pt x="1614850" y="142190"/>
                </a:lnTo>
                <a:lnTo>
                  <a:pt x="1629432" y="101992"/>
                </a:lnTo>
                <a:lnTo>
                  <a:pt x="1635296" y="56455"/>
                </a:lnTo>
                <a:lnTo>
                  <a:pt x="1638140" y="0"/>
                </a:lnTo>
                <a:lnTo>
                  <a:pt x="1638445" y="18585"/>
                </a:lnTo>
                <a:lnTo>
                  <a:pt x="1642234" y="71682"/>
                </a:lnTo>
                <a:lnTo>
                  <a:pt x="1649584" y="114736"/>
                </a:lnTo>
                <a:lnTo>
                  <a:pt x="3249746" y="143472"/>
                </a:lnTo>
                <a:lnTo>
                  <a:pt x="3253150" y="144755"/>
                </a:lnTo>
                <a:lnTo>
                  <a:pt x="3267732" y="184953"/>
                </a:lnTo>
                <a:lnTo>
                  <a:pt x="3273597" y="230489"/>
                </a:lnTo>
                <a:lnTo>
                  <a:pt x="3275871" y="267173"/>
                </a:lnTo>
                <a:lnTo>
                  <a:pt x="3276440" y="28694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5DE44-1F54-0046-B50E-763CB28F756A}"/>
              </a:ext>
            </a:extLst>
          </p:cNvPr>
          <p:cNvSpPr txBox="1"/>
          <p:nvPr/>
        </p:nvSpPr>
        <p:spPr>
          <a:xfrm>
            <a:off x="0" y="3698678"/>
            <a:ext cx="567174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val1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val2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valN</a:t>
            </a:r>
            <a:r>
              <a:rPr lang="en-US" sz="3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BF8D1E8-932A-874D-9786-43661F1D3C41}"/>
              </a:ext>
            </a:extLst>
          </p:cNvPr>
          <p:cNvSpPr txBox="1"/>
          <p:nvPr/>
        </p:nvSpPr>
        <p:spPr>
          <a:xfrm>
            <a:off x="2951381" y="4970756"/>
            <a:ext cx="6139610" cy="14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US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list_of_lists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[</a:t>
            </a: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0]</a:t>
            </a:r>
          </a:p>
          <a:p>
            <a:pPr marL="12700" marR="5080">
              <a:lnSpc>
                <a:spcPct val="100699"/>
              </a:lnSpc>
            </a:pP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[val1, val2, …, </a:t>
            </a:r>
            <a:r>
              <a:rPr lang="en-US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valN</a:t>
            </a: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]</a:t>
            </a:r>
          </a:p>
          <a:p>
            <a:pPr marL="12700" marR="5080">
              <a:lnSpc>
                <a:spcPct val="100699"/>
              </a:lnSpc>
            </a:pP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US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list_of_lists</a:t>
            </a: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[0][1]</a:t>
            </a:r>
          </a:p>
          <a:p>
            <a:pPr marL="12700" marR="5080">
              <a:lnSpc>
                <a:spcPct val="100699"/>
              </a:lnSpc>
            </a:pPr>
            <a:r>
              <a:rPr lang="en-US" sz="2400" spc="-5" dirty="0">
                <a:solidFill>
                  <a:srgbClr val="00FF00"/>
                </a:solidFill>
                <a:latin typeface="Courier New"/>
                <a:cs typeface="Courier New"/>
              </a:rPr>
              <a:t>val2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371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BCEC-6729-D941-9DFD-F6ECCDB0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Lists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FC5D4-F836-514F-8823-2DB95B1E4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252791" cy="4835479"/>
          </a:xfrm>
        </p:spPr>
        <p:txBody>
          <a:bodyPr>
            <a:normAutofit/>
          </a:bodyPr>
          <a:lstStyle/>
          <a:p>
            <a:r>
              <a:rPr lang="en-US" sz="2200" dirty="0"/>
              <a:t>Let’s provide some information in our list of grades: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Now we can access different parts depending on what we want: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BF8D1E8-932A-874D-9786-43661F1D3C41}"/>
              </a:ext>
            </a:extLst>
          </p:cNvPr>
          <p:cNvSpPr txBox="1"/>
          <p:nvPr/>
        </p:nvSpPr>
        <p:spPr>
          <a:xfrm>
            <a:off x="598004" y="2897644"/>
            <a:ext cx="7902150" cy="932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0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0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aps106_grades = [[‘Midterm 1’, 60],</a:t>
            </a:r>
          </a:p>
          <a:p>
            <a:pPr marL="12700" marR="5080">
              <a:lnSpc>
                <a:spcPct val="100699"/>
              </a:lnSpc>
            </a:pP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		    	   [‘Midterm 2’, 90],</a:t>
            </a:r>
          </a:p>
          <a:p>
            <a:pPr marL="12700" marR="5080">
              <a:lnSpc>
                <a:spcPct val="100699"/>
              </a:lnSpc>
            </a:pP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		    	   [‘Exam’, 100]]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519DABD2-7001-5340-8111-C01EFD327711}"/>
              </a:ext>
            </a:extLst>
          </p:cNvPr>
          <p:cNvSpPr txBox="1"/>
          <p:nvPr/>
        </p:nvSpPr>
        <p:spPr>
          <a:xfrm>
            <a:off x="598004" y="2365809"/>
            <a:ext cx="10995991" cy="310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0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0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aps106_grades = [[‘Midterm 1’, 60],[‘Midterm 2’, 90],[‘Exam’, 100]]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2873006-B53F-844D-BF6E-2D4FFBFBC3F4}"/>
              </a:ext>
            </a:extLst>
          </p:cNvPr>
          <p:cNvSpPr txBox="1"/>
          <p:nvPr/>
        </p:nvSpPr>
        <p:spPr>
          <a:xfrm>
            <a:off x="598003" y="4934801"/>
            <a:ext cx="10995991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0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0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aps106_grades[0]</a:t>
            </a:r>
          </a:p>
          <a:p>
            <a:pPr marL="12700" marR="5080">
              <a:lnSpc>
                <a:spcPct val="100699"/>
              </a:lnSpc>
            </a:pP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[‘Midterm 1’, 60]</a:t>
            </a:r>
          </a:p>
          <a:p>
            <a:pPr marL="12700" marR="5080">
              <a:lnSpc>
                <a:spcPct val="100699"/>
              </a:lnSpc>
            </a:pPr>
            <a:endParaRPr lang="en-US" sz="2000" spc="-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00699"/>
              </a:lnSpc>
            </a:pP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aps106_grades[2][1]</a:t>
            </a:r>
          </a:p>
          <a:p>
            <a:pPr marL="12700" marR="5080">
              <a:lnSpc>
                <a:spcPct val="100699"/>
              </a:lnSpc>
            </a:pP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82023-6233-DB41-8B15-CF3645D19912}"/>
              </a:ext>
            </a:extLst>
          </p:cNvPr>
          <p:cNvSpPr txBox="1"/>
          <p:nvPr/>
        </p:nvSpPr>
        <p:spPr>
          <a:xfrm>
            <a:off x="7645534" y="3120669"/>
            <a:ext cx="421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BOTH OF THESE ARE THE SAME THING!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25F6F1-0647-5641-AFCA-B93F5960818B}"/>
              </a:ext>
            </a:extLst>
          </p:cNvPr>
          <p:cNvCxnSpPr/>
          <p:nvPr/>
        </p:nvCxnSpPr>
        <p:spPr>
          <a:xfrm flipH="1" flipV="1">
            <a:off x="9090991" y="2725614"/>
            <a:ext cx="240196" cy="31868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E64328-5AD6-8448-88EB-A2CBB7E9514A}"/>
              </a:ext>
            </a:extLst>
          </p:cNvPr>
          <p:cNvCxnSpPr>
            <a:cxnSpLocks/>
          </p:cNvCxnSpPr>
          <p:nvPr/>
        </p:nvCxnSpPr>
        <p:spPr>
          <a:xfrm flipH="1">
            <a:off x="7065230" y="3349053"/>
            <a:ext cx="460205" cy="6470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03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FF87-9115-EBB3-C048-C841BFF0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9A52-1414-CBD9-6F2C-95547FF9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Lists – like a table!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2F891DE-4740-AE2E-E160-65BE927B16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452741"/>
              </p:ext>
            </p:extLst>
          </p:nvPr>
        </p:nvGraphicFramePr>
        <p:xfrm>
          <a:off x="321022" y="1829141"/>
          <a:ext cx="702934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631">
                  <a:extLst>
                    <a:ext uri="{9D8B030D-6E8A-4147-A177-3AD203B41FA5}">
                      <a16:colId xmlns:a16="http://schemas.microsoft.com/office/drawing/2014/main" val="1722023654"/>
                    </a:ext>
                  </a:extLst>
                </a:gridCol>
                <a:gridCol w="1600631">
                  <a:extLst>
                    <a:ext uri="{9D8B030D-6E8A-4147-A177-3AD203B41FA5}">
                      <a16:colId xmlns:a16="http://schemas.microsoft.com/office/drawing/2014/main" val="1628704366"/>
                    </a:ext>
                  </a:extLst>
                </a:gridCol>
                <a:gridCol w="1143501">
                  <a:extLst>
                    <a:ext uri="{9D8B030D-6E8A-4147-A177-3AD203B41FA5}">
                      <a16:colId xmlns:a16="http://schemas.microsoft.com/office/drawing/2014/main" val="1571689007"/>
                    </a:ext>
                  </a:extLst>
                </a:gridCol>
                <a:gridCol w="844061">
                  <a:extLst>
                    <a:ext uri="{9D8B030D-6E8A-4147-A177-3AD203B41FA5}">
                      <a16:colId xmlns:a16="http://schemas.microsoft.com/office/drawing/2014/main" val="3117678027"/>
                    </a:ext>
                  </a:extLst>
                </a:gridCol>
                <a:gridCol w="1840523">
                  <a:extLst>
                    <a:ext uri="{9D8B030D-6E8A-4147-A177-3AD203B41FA5}">
                      <a16:colId xmlns:a16="http://schemas.microsoft.com/office/drawing/2014/main" val="3007775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Powers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967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Sean Astin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Loyalty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40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Frodo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Elijah 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Ring bearer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415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Gandalf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Ian McKellen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Inspiring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28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Galadriel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60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Pippin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2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Aragorn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2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Legolas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724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err="1"/>
                        <a:t>Eowyn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96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Gollum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96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Arwen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71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Merry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51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61BFF6-BD5B-CFE8-B85C-8D8EDAD73AA0}"/>
              </a:ext>
            </a:extLst>
          </p:cNvPr>
          <p:cNvSpPr txBox="1"/>
          <p:nvPr/>
        </p:nvSpPr>
        <p:spPr>
          <a:xfrm>
            <a:off x="7643446" y="1422691"/>
            <a:ext cx="42275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‘Sam’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‘Sean Astin’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‘Hobbit’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33, 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‘Loyalty’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‘Frodo’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‘Elijah Wood’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‘Hobbit’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51, 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‘Ring bearer’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],…]</a:t>
            </a:r>
          </a:p>
          <a:p>
            <a:endParaRPr lang="en-US" sz="2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Same as:</a:t>
            </a:r>
          </a:p>
          <a:p>
            <a:endParaRPr lang="en-US" sz="2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[Sam, Frodo, …]</a:t>
            </a:r>
          </a:p>
          <a:p>
            <a:endParaRPr lang="en-US" sz="2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If:</a:t>
            </a:r>
          </a:p>
          <a:p>
            <a:endParaRPr lang="en-US" sz="2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 = [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‘Sam’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‘Sean Astin’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‘Hobbit’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33, </a:t>
            </a:r>
            <a:r>
              <a:rPr lang="en-US" sz="21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‘Loyalty’</a:t>
            </a:r>
            <a:r>
              <a:rPr lang="en-US" sz="2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639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Creating lists</a:t>
            </a:r>
          </a:p>
          <a:p>
            <a:pPr lvl="1"/>
            <a:r>
              <a:rPr lang="en-CA" dirty="0"/>
              <a:t>List indexing and slicing</a:t>
            </a:r>
          </a:p>
          <a:p>
            <a:pPr lvl="1"/>
            <a:r>
              <a:rPr lang="en-CA" dirty="0"/>
              <a:t>List operations</a:t>
            </a:r>
          </a:p>
          <a:p>
            <a:pPr lvl="1"/>
            <a:r>
              <a:rPr lang="en-CA" dirty="0"/>
              <a:t>Nested lists!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426036" y="1532292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The ‘list’ Type</a:t>
            </a:r>
          </a:p>
        </p:txBody>
      </p:sp>
    </p:spTree>
    <p:extLst>
      <p:ext uri="{BB962C8B-B14F-4D97-AF65-F5344CB8AC3E}">
        <p14:creationId xmlns:p14="http://schemas.microsoft.com/office/powerpoint/2010/main" val="26680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List </a:t>
            </a:r>
            <a:r>
              <a:rPr lang="en-US" dirty="0"/>
              <a:t>Mutability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59" y="1825623"/>
            <a:ext cx="9852378" cy="4101043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r>
              <a:rPr lang="en-CA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Lists 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are mutable! </a:t>
            </a:r>
          </a:p>
          <a:p>
            <a:pPr marL="469900" marR="767715" lvl="1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This means they can be mutated (modified)</a:t>
            </a:r>
            <a:endParaRPr lang="en-US" dirty="0"/>
          </a:p>
          <a:p>
            <a:pPr marL="12700" marR="767715">
              <a:lnSpc>
                <a:spcPct val="100000"/>
              </a:lnSpc>
            </a:pPr>
            <a:endParaRPr lang="en-US" dirty="0"/>
          </a:p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All the other types we’ve learned so far (</a:t>
            </a:r>
            <a:r>
              <a:rPr lang="en-US" spc="-1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pc="-1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pc="-1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float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, and </a:t>
            </a:r>
            <a:r>
              <a:rPr lang="en-US" spc="-1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bool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) are </a:t>
            </a:r>
            <a:r>
              <a:rPr lang="en-US" spc="-1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immutable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 (i.e. they can </a:t>
            </a:r>
            <a:r>
              <a:rPr lang="en-US" spc="-1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 be modified)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09DE8-8457-079E-E0C8-3A748EB9B19D}"/>
              </a:ext>
            </a:extLst>
          </p:cNvPr>
          <p:cNvSpPr txBox="1"/>
          <p:nvPr/>
        </p:nvSpPr>
        <p:spPr>
          <a:xfrm>
            <a:off x="2232599" y="4889305"/>
            <a:ext cx="772680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var1 = “Mississauga”</a:t>
            </a:r>
          </a:p>
          <a:p>
            <a:pPr marL="12700">
              <a:lnSpc>
                <a:spcPct val="100000"/>
              </a:lnSpc>
            </a:pP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var1[4] = “o”</a:t>
            </a: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200" dirty="0">
                <a:solidFill>
                  <a:srgbClr val="FFFFFF"/>
                </a:solidFill>
                <a:latin typeface="Courier New"/>
                <a:cs typeface="Courier New"/>
              </a:rPr>
              <a:t>??? What will happen?</a:t>
            </a:r>
          </a:p>
        </p:txBody>
      </p:sp>
    </p:spTree>
    <p:extLst>
      <p:ext uri="{BB962C8B-B14F-4D97-AF65-F5344CB8AC3E}">
        <p14:creationId xmlns:p14="http://schemas.microsoft.com/office/powerpoint/2010/main" val="2101468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List </a:t>
            </a:r>
            <a:r>
              <a:rPr lang="en-US" dirty="0"/>
              <a:t>Mutability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41525-8926-6542-B325-791FB9A96018}"/>
              </a:ext>
            </a:extLst>
          </p:cNvPr>
          <p:cNvSpPr txBox="1"/>
          <p:nvPr/>
        </p:nvSpPr>
        <p:spPr>
          <a:xfrm>
            <a:off x="2074022" y="1595120"/>
            <a:ext cx="772680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s = “I love cats”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s[0] = “U”</a:t>
            </a:r>
          </a:p>
          <a:p>
            <a:pPr marL="12700">
              <a:lnSpc>
                <a:spcPct val="100000"/>
              </a:lnSpc>
            </a:pPr>
            <a:r>
              <a:rPr lang="en-CA" sz="2200" dirty="0">
                <a:solidFill>
                  <a:srgbClr val="FF0000"/>
                </a:solidFill>
                <a:latin typeface="Courier New"/>
                <a:cs typeface="Courier New"/>
              </a:rPr>
              <a:t>Traceback (most recent call last):</a:t>
            </a:r>
          </a:p>
          <a:p>
            <a:pPr marL="12700">
              <a:lnSpc>
                <a:spcPct val="100000"/>
              </a:lnSpc>
            </a:pPr>
            <a:r>
              <a:rPr lang="en-CA" sz="2200" dirty="0" err="1">
                <a:solidFill>
                  <a:srgbClr val="FF0000"/>
                </a:solidFill>
                <a:latin typeface="Courier New"/>
                <a:cs typeface="Courier New"/>
              </a:rPr>
              <a:t>builtins.TypeError</a:t>
            </a:r>
            <a:r>
              <a:rPr lang="en-CA" sz="2200" dirty="0">
                <a:solidFill>
                  <a:srgbClr val="FF0000"/>
                </a:solidFill>
                <a:latin typeface="Courier New"/>
                <a:cs typeface="Courier New"/>
              </a:rPr>
              <a:t>: 'str' object does not support item assignment</a:t>
            </a: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grade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s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=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[80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90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70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45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98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57]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grades[3] = 100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grades[-1] = 100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grades[2] = ‘Perfect’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grades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[80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90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‘Perfect’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100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98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,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100]</a:t>
            </a: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7" name="object 23">
            <a:extLst>
              <a:ext uri="{FF2B5EF4-FFF2-40B4-BE49-F238E27FC236}">
                <a16:creationId xmlns:a16="http://schemas.microsoft.com/office/drawing/2014/main" id="{D0FBEED4-B743-524F-9567-033313E5D75C}"/>
              </a:ext>
            </a:extLst>
          </p:cNvPr>
          <p:cNvSpPr/>
          <p:nvPr/>
        </p:nvSpPr>
        <p:spPr>
          <a:xfrm>
            <a:off x="1505835" y="3987041"/>
            <a:ext cx="386514" cy="1871587"/>
          </a:xfrm>
          <a:custGeom>
            <a:avLst/>
            <a:gdLst/>
            <a:ahLst/>
            <a:cxnLst/>
            <a:rect l="l" t="t" r="r" b="b"/>
            <a:pathLst>
              <a:path w="301625" h="2438400">
                <a:moveTo>
                  <a:pt x="301373" y="2438393"/>
                </a:moveTo>
                <a:lnTo>
                  <a:pt x="261386" y="2437510"/>
                </a:lnTo>
                <a:lnTo>
                  <a:pt x="209301" y="2433236"/>
                </a:lnTo>
                <a:lnTo>
                  <a:pt x="170872" y="2426119"/>
                </a:lnTo>
                <a:lnTo>
                  <a:pt x="148973" y="1244593"/>
                </a:lnTo>
                <a:lnTo>
                  <a:pt x="147619" y="1241193"/>
                </a:lnTo>
                <a:lnTo>
                  <a:pt x="105456" y="1226821"/>
                </a:lnTo>
                <a:lnTo>
                  <a:pt x="58117" y="1221350"/>
                </a:lnTo>
                <a:lnTo>
                  <a:pt x="0" y="1219200"/>
                </a:lnTo>
                <a:lnTo>
                  <a:pt x="20057" y="1218962"/>
                </a:lnTo>
                <a:lnTo>
                  <a:pt x="75066" y="1215671"/>
                </a:lnTo>
                <a:lnTo>
                  <a:pt x="118160" y="1209162"/>
                </a:lnTo>
                <a:lnTo>
                  <a:pt x="148973" y="25393"/>
                </a:lnTo>
                <a:lnTo>
                  <a:pt x="150327" y="21993"/>
                </a:lnTo>
                <a:lnTo>
                  <a:pt x="192490" y="7621"/>
                </a:lnTo>
                <a:lnTo>
                  <a:pt x="239828" y="2150"/>
                </a:lnTo>
                <a:lnTo>
                  <a:pt x="277666" y="299"/>
                </a:lnTo>
                <a:lnTo>
                  <a:pt x="297946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61FB6239-E711-8043-984F-A03CA35D2BDA}"/>
              </a:ext>
            </a:extLst>
          </p:cNvPr>
          <p:cNvSpPr/>
          <p:nvPr/>
        </p:nvSpPr>
        <p:spPr>
          <a:xfrm>
            <a:off x="1465303" y="1673006"/>
            <a:ext cx="427046" cy="1230749"/>
          </a:xfrm>
          <a:custGeom>
            <a:avLst/>
            <a:gdLst/>
            <a:ahLst/>
            <a:cxnLst/>
            <a:rect l="l" t="t" r="r" b="b"/>
            <a:pathLst>
              <a:path w="301625" h="1833879">
                <a:moveTo>
                  <a:pt x="301373" y="1833555"/>
                </a:moveTo>
                <a:lnTo>
                  <a:pt x="261386" y="1832672"/>
                </a:lnTo>
                <a:lnTo>
                  <a:pt x="209301" y="1828398"/>
                </a:lnTo>
                <a:lnTo>
                  <a:pt x="170873" y="1821282"/>
                </a:lnTo>
                <a:lnTo>
                  <a:pt x="148973" y="942172"/>
                </a:lnTo>
                <a:lnTo>
                  <a:pt x="147619" y="938772"/>
                </a:lnTo>
                <a:lnTo>
                  <a:pt x="105456" y="924402"/>
                </a:lnTo>
                <a:lnTo>
                  <a:pt x="58118" y="918930"/>
                </a:lnTo>
                <a:lnTo>
                  <a:pt x="0" y="916781"/>
                </a:lnTo>
                <a:lnTo>
                  <a:pt x="20057" y="916543"/>
                </a:lnTo>
                <a:lnTo>
                  <a:pt x="75066" y="913252"/>
                </a:lnTo>
                <a:lnTo>
                  <a:pt x="118160" y="906744"/>
                </a:lnTo>
                <a:lnTo>
                  <a:pt x="148973" y="25391"/>
                </a:lnTo>
                <a:lnTo>
                  <a:pt x="150327" y="21991"/>
                </a:lnTo>
                <a:lnTo>
                  <a:pt x="192491" y="7621"/>
                </a:lnTo>
                <a:lnTo>
                  <a:pt x="239829" y="2149"/>
                </a:lnTo>
                <a:lnTo>
                  <a:pt x="277667" y="299"/>
                </a:lnTo>
                <a:lnTo>
                  <a:pt x="297947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" name="object 25">
            <a:extLst>
              <a:ext uri="{FF2B5EF4-FFF2-40B4-BE49-F238E27FC236}">
                <a16:creationId xmlns:a16="http://schemas.microsoft.com/office/drawing/2014/main" id="{2CCE71F8-68C3-B84E-A4C3-0E1D3A19AD78}"/>
              </a:ext>
            </a:extLst>
          </p:cNvPr>
          <p:cNvSpPr txBox="1"/>
          <p:nvPr/>
        </p:nvSpPr>
        <p:spPr>
          <a:xfrm>
            <a:off x="281631" y="2015522"/>
            <a:ext cx="1092835" cy="53860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3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stri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a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 imm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</a:p>
        </p:txBody>
      </p:sp>
      <p:sp>
        <p:nvSpPr>
          <p:cNvPr id="10" name="object 26">
            <a:extLst>
              <a:ext uri="{FF2B5EF4-FFF2-40B4-BE49-F238E27FC236}">
                <a16:creationId xmlns:a16="http://schemas.microsoft.com/office/drawing/2014/main" id="{339E312D-55AB-674C-8FE2-BC232F7260CC}"/>
              </a:ext>
            </a:extLst>
          </p:cNvPr>
          <p:cNvSpPr txBox="1"/>
          <p:nvPr/>
        </p:nvSpPr>
        <p:spPr>
          <a:xfrm>
            <a:off x="408948" y="4554136"/>
            <a:ext cx="838200" cy="53860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sts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a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 m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ab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</a:p>
        </p:txBody>
      </p:sp>
    </p:spTree>
    <p:extLst>
      <p:ext uri="{BB962C8B-B14F-4D97-AF65-F5344CB8AC3E}">
        <p14:creationId xmlns:p14="http://schemas.microsoft.com/office/powerpoint/2010/main" val="1209910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AD2E84-FDBC-C54C-98C8-B89B9B89CD2E}"/>
              </a:ext>
            </a:extLst>
          </p:cNvPr>
          <p:cNvSpPr txBox="1"/>
          <p:nvPr/>
        </p:nvSpPr>
        <p:spPr>
          <a:xfrm>
            <a:off x="4370467" y="2615028"/>
            <a:ext cx="772680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lst1 =  [11, 12, 13, 14, 15, 16, 27]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lst2 = lst1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lst1[-1] = 17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lst2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[11, 12, 13, 14, 15, 16, 17]</a:t>
            </a:r>
            <a:endParaRPr lang="en-CA" sz="22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id(lst1)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49012568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id(lst2)</a:t>
            </a:r>
          </a:p>
          <a:p>
            <a:pPr marL="12700"/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49012568</a:t>
            </a: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CDF3EA-A85D-EB48-47D0-3018572F3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075"/>
            <a:ext cx="10515600" cy="15237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Mutability is powerful! But it can get us into trouble if we’re not careful.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B94E78-D426-9004-4641-056B6DD6865D}"/>
              </a:ext>
            </a:extLst>
          </p:cNvPr>
          <p:cNvSpPr txBox="1"/>
          <p:nvPr/>
        </p:nvSpPr>
        <p:spPr>
          <a:xfrm>
            <a:off x="838200" y="3429000"/>
            <a:ext cx="2074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Say we want to copy a string</a:t>
            </a:r>
          </a:p>
        </p:txBody>
      </p:sp>
    </p:spTree>
    <p:extLst>
      <p:ext uri="{BB962C8B-B14F-4D97-AF65-F5344CB8AC3E}">
        <p14:creationId xmlns:p14="http://schemas.microsoft.com/office/powerpoint/2010/main" val="413640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This is called 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08" y="1724643"/>
            <a:ext cx="11766783" cy="4769942"/>
          </a:xfrm>
        </p:spPr>
        <p:txBody>
          <a:bodyPr>
            <a:normAutofit fontScale="92500" lnSpcReduction="10000"/>
          </a:bodyPr>
          <a:lstStyle/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When two variable names refer to the same object, they are </a:t>
            </a:r>
            <a:r>
              <a:rPr lang="en-US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aliases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When we modify one variable, we are modifying the object it refers to, hence also modifying the second variable.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This is common source of error when working with </a:t>
            </a:r>
            <a:r>
              <a:rPr lang="en-US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 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objects.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pic>
        <p:nvPicPr>
          <p:cNvPr id="6" name="Picture 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9BD97458-1679-4640-9875-FB3E18AF5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157" y="3188677"/>
            <a:ext cx="5137052" cy="2446215"/>
          </a:xfrm>
          <a:prstGeom prst="rect">
            <a:avLst/>
          </a:prstGeom>
        </p:spPr>
      </p:pic>
      <p:pic>
        <p:nvPicPr>
          <p:cNvPr id="7170" name="Picture 2" descr="Alias (TV series) - Wikipedia">
            <a:extLst>
              <a:ext uri="{FF2B5EF4-FFF2-40B4-BE49-F238E27FC236}">
                <a16:creationId xmlns:a16="http://schemas.microsoft.com/office/drawing/2014/main" id="{B4015493-563B-4345-B457-73A7C30AE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4" y="3390704"/>
            <a:ext cx="2689274" cy="215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artoon of two people in clothing pointing at each other&#10;&#10;Description automatically generated">
            <a:extLst>
              <a:ext uri="{FF2B5EF4-FFF2-40B4-BE49-F238E27FC236}">
                <a16:creationId xmlns:a16="http://schemas.microsoft.com/office/drawing/2014/main" id="{2FA32E05-CE99-5794-2B82-736E2DEF2B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844" y="3188677"/>
            <a:ext cx="3196547" cy="239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44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Aliasing</a:t>
            </a:r>
            <a:r>
              <a:rPr lang="en-US" dirty="0"/>
              <a:t> Example (with Visualizer)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59" y="1825623"/>
            <a:ext cx="9852378" cy="4101043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D9B71-142D-C146-81F9-99870E23C6BC}"/>
              </a:ext>
            </a:extLst>
          </p:cNvPr>
          <p:cNvSpPr txBox="1"/>
          <p:nvPr/>
        </p:nvSpPr>
        <p:spPr>
          <a:xfrm>
            <a:off x="838200" y="1825623"/>
            <a:ext cx="88638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Permalink:</a:t>
            </a:r>
          </a:p>
          <a:p>
            <a:endParaRPr lang="en-US" dirty="0">
              <a:solidFill>
                <a:schemeClr val="accent6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https://tinyurl.com/aps106alias</a:t>
            </a:r>
            <a:r>
              <a:rPr lang="en-US" dirty="0">
                <a:solidFill>
                  <a:schemeClr val="accent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3100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08" y="667812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dirty="0"/>
              <a:t>Copying Lists and Avoiding </a:t>
            </a:r>
            <a:r>
              <a:rPr lang="en-US" dirty="0">
                <a:solidFill>
                  <a:schemeClr val="accent6"/>
                </a:solidFill>
              </a:rPr>
              <a:t>Aliasing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D2E84-FDBC-C54C-98C8-B89B9B89CD2E}"/>
              </a:ext>
            </a:extLst>
          </p:cNvPr>
          <p:cNvSpPr txBox="1"/>
          <p:nvPr/>
        </p:nvSpPr>
        <p:spPr>
          <a:xfrm>
            <a:off x="486508" y="2426017"/>
            <a:ext cx="772680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rgbClr val="FF00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 =  [0, 1, 2, 3]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rgbClr val="FF0000"/>
                </a:solidFill>
                <a:latin typeface="Courier New"/>
                <a:cs typeface="Courier New"/>
              </a:rPr>
              <a:t>lst_b</a:t>
            </a:r>
            <a:r>
              <a:rPr lang="en-CA" sz="20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= 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endParaRPr lang="en-CA" sz="2000" spc="-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chemeClr val="accent1"/>
                </a:solidFill>
                <a:latin typeface="Courier New"/>
                <a:cs typeface="Courier New"/>
              </a:rPr>
              <a:t>lst_c</a:t>
            </a:r>
            <a:r>
              <a:rPr lang="en-CA" sz="2000" spc="-5" dirty="0">
                <a:solidFill>
                  <a:schemeClr val="accent1"/>
                </a:solidFill>
                <a:latin typeface="Courier New"/>
                <a:cs typeface="Courier New"/>
              </a:rPr>
              <a:t> 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= </a:t>
            </a:r>
            <a:r>
              <a:rPr lang="en-CA" sz="2000" spc="-5" dirty="0">
                <a:solidFill>
                  <a:schemeClr val="accent6"/>
                </a:solidFill>
                <a:latin typeface="Courier New"/>
                <a:cs typeface="Courier New"/>
              </a:rPr>
              <a:t>list(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chemeClr val="accent6"/>
                </a:solidFill>
                <a:latin typeface="Courier New"/>
                <a:cs typeface="Courier New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rgbClr val="FF00E9"/>
                </a:solidFill>
                <a:latin typeface="Courier New"/>
                <a:cs typeface="Courier New"/>
              </a:rPr>
              <a:t>lst_d</a:t>
            </a:r>
            <a:r>
              <a:rPr lang="en-CA" sz="2000" spc="-5" dirty="0">
                <a:solidFill>
                  <a:srgbClr val="FF00E9"/>
                </a:solidFill>
                <a:latin typeface="Courier New"/>
                <a:cs typeface="Courier New"/>
              </a:rPr>
              <a:t> 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= 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chemeClr val="accent6"/>
                </a:solidFill>
                <a:latin typeface="Courier New"/>
                <a:cs typeface="Courier New"/>
              </a:rPr>
              <a:t>[:]</a:t>
            </a:r>
          </a:p>
          <a:p>
            <a:pPr marL="12700">
              <a:lnSpc>
                <a:spcPct val="100000"/>
              </a:lnSpc>
            </a:pPr>
            <a:endParaRPr lang="en-CA" sz="20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0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FF0000"/>
                </a:solidFill>
                <a:latin typeface="Courier New"/>
                <a:cs typeface="Courier New"/>
              </a:rPr>
              <a:t>39012510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lst_b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FF0000"/>
                </a:solidFill>
                <a:latin typeface="Courier New"/>
                <a:cs typeface="Courier New"/>
              </a:rPr>
              <a:t>39012510</a:t>
            </a:r>
          </a:p>
          <a:p>
            <a:pPr marL="12700"/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lst_c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/>
            <a:r>
              <a:rPr lang="en-CA" sz="2000" spc="-5" dirty="0">
                <a:solidFill>
                  <a:schemeClr val="accent2"/>
                </a:solidFill>
                <a:latin typeface="Courier New"/>
                <a:cs typeface="Courier New"/>
              </a:rPr>
              <a:t>54514112</a:t>
            </a:r>
          </a:p>
          <a:p>
            <a:pPr marL="12700"/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lst_d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/>
            <a:r>
              <a:rPr lang="en-CA" sz="2000" spc="-5" dirty="0">
                <a:solidFill>
                  <a:srgbClr val="FF00E9"/>
                </a:solidFill>
                <a:latin typeface="Courier New"/>
                <a:cs typeface="Courier New"/>
              </a:rPr>
              <a:t>24514139</a:t>
            </a: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4609F4-6FEB-2A4F-887C-28901F20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08" y="1383662"/>
            <a:ext cx="10219337" cy="1042355"/>
          </a:xfrm>
        </p:spPr>
        <p:txBody>
          <a:bodyPr>
            <a:normAutofit/>
          </a:bodyPr>
          <a:lstStyle/>
          <a:p>
            <a:r>
              <a:rPr lang="en-US" sz="2000" dirty="0"/>
              <a:t>There are two simple ways to copy lists:</a:t>
            </a:r>
          </a:p>
          <a:p>
            <a:pPr lvl="1"/>
            <a:r>
              <a:rPr lang="en-US" sz="2000" dirty="0"/>
              <a:t>Using the  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list( ) </a:t>
            </a:r>
            <a:r>
              <a:rPr lang="en-US" sz="2000" dirty="0"/>
              <a:t>function</a:t>
            </a:r>
          </a:p>
          <a:p>
            <a:pPr lvl="1"/>
            <a:r>
              <a:rPr lang="en-US" sz="2000" dirty="0"/>
              <a:t>Completely slice the list 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[:]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D89EBEB-90E7-8140-9E3E-E025BF0D9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722" y="1383662"/>
            <a:ext cx="4916170" cy="5016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CAB457-17B5-4643-9825-17D69660D5B8}"/>
              </a:ext>
            </a:extLst>
          </p:cNvPr>
          <p:cNvSpPr/>
          <p:nvPr/>
        </p:nvSpPr>
        <p:spPr>
          <a:xfrm>
            <a:off x="6639951" y="2053883"/>
            <a:ext cx="703384" cy="3862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10E57-6169-9E45-AF31-A6F69413552D}"/>
              </a:ext>
            </a:extLst>
          </p:cNvPr>
          <p:cNvSpPr/>
          <p:nvPr/>
        </p:nvSpPr>
        <p:spPr>
          <a:xfrm>
            <a:off x="6639951" y="3063166"/>
            <a:ext cx="703384" cy="3862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B14EC7-1460-8746-BE98-EFB876D01678}"/>
              </a:ext>
            </a:extLst>
          </p:cNvPr>
          <p:cNvSpPr/>
          <p:nvPr/>
        </p:nvSpPr>
        <p:spPr>
          <a:xfrm>
            <a:off x="6649329" y="4092525"/>
            <a:ext cx="703384" cy="38620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290637-1303-3244-A7EE-940F8D37DF05}"/>
              </a:ext>
            </a:extLst>
          </p:cNvPr>
          <p:cNvSpPr/>
          <p:nvPr/>
        </p:nvSpPr>
        <p:spPr>
          <a:xfrm>
            <a:off x="6649329" y="5515882"/>
            <a:ext cx="703384" cy="386202"/>
          </a:xfrm>
          <a:prstGeom prst="rect">
            <a:avLst/>
          </a:prstGeom>
          <a:noFill/>
          <a:ln w="57150">
            <a:solidFill>
              <a:srgbClr val="FF0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E9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624FA6-4742-4505-EEFF-68D047DD04A8}"/>
              </a:ext>
            </a:extLst>
          </p:cNvPr>
          <p:cNvSpPr/>
          <p:nvPr/>
        </p:nvSpPr>
        <p:spPr>
          <a:xfrm>
            <a:off x="5687561" y="3654407"/>
            <a:ext cx="5228492" cy="28054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4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Avoiding </a:t>
            </a:r>
            <a:r>
              <a:rPr lang="en-US" dirty="0">
                <a:solidFill>
                  <a:schemeClr val="accent6"/>
                </a:solidFill>
              </a:rPr>
              <a:t>Aliasing</a:t>
            </a:r>
            <a:r>
              <a:rPr lang="en-US" dirty="0"/>
              <a:t> Example (with Visualizer)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59" y="1825623"/>
            <a:ext cx="9852378" cy="4101043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D9B71-142D-C146-81F9-99870E23C6BC}"/>
              </a:ext>
            </a:extLst>
          </p:cNvPr>
          <p:cNvSpPr txBox="1"/>
          <p:nvPr/>
        </p:nvSpPr>
        <p:spPr>
          <a:xfrm>
            <a:off x="838200" y="1825623"/>
            <a:ext cx="88638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Permalink: </a:t>
            </a:r>
          </a:p>
          <a:p>
            <a:endParaRPr lang="en-US" u="sng" dirty="0">
              <a:solidFill>
                <a:schemeClr val="accent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tinyurl.com</a:t>
            </a:r>
            <a:r>
              <a:rPr lang="en-US" u="sng" dirty="0">
                <a:solidFill>
                  <a:schemeClr val="accent1"/>
                </a:solidFill>
              </a:rPr>
              <a:t>/aps106alias2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329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List mutability</a:t>
            </a:r>
          </a:p>
          <a:p>
            <a:pPr lvl="1"/>
            <a:r>
              <a:rPr lang="en-CA" dirty="0"/>
              <a:t>Aliasing</a:t>
            </a:r>
          </a:p>
          <a:p>
            <a:pPr lvl="1"/>
            <a:r>
              <a:rPr lang="en-CA" dirty="0"/>
              <a:t>Copying lists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Mutability and Aliasing</a:t>
            </a:r>
          </a:p>
        </p:txBody>
      </p:sp>
    </p:spTree>
    <p:extLst>
      <p:ext uri="{BB962C8B-B14F-4D97-AF65-F5344CB8AC3E}">
        <p14:creationId xmlns:p14="http://schemas.microsoft.com/office/powerpoint/2010/main" val="432159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21B3-1EEF-8D43-9DBD-8E8CAFAD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217B0-B365-F041-A4BD-A031C572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1663064"/>
            <a:ext cx="10515600" cy="4835479"/>
          </a:xfrm>
        </p:spPr>
        <p:txBody>
          <a:bodyPr/>
          <a:lstStyle/>
          <a:p>
            <a:pPr marL="469900" marR="69215" indent="-457200">
              <a:lnSpc>
                <a:spcPts val="3329"/>
              </a:lnSpc>
              <a:tabLst>
                <a:tab pos="469900" algn="l"/>
              </a:tabLst>
            </a:pPr>
            <a:r>
              <a:rPr lang="en-CA" spc="-25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v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era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f </a:t>
            </a:r>
            <a:r>
              <a:rPr lang="en-CA" spc="-25" dirty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yt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hon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'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il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f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un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ct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n 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li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d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o li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sts,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cl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ud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ng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CA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12800" marR="5080" lvl="1" indent="-342900">
              <a:lnSpc>
                <a:spcPct val="105300"/>
              </a:lnSpc>
              <a:spcBef>
                <a:spcPts val="1980"/>
              </a:spcBef>
              <a:tabLst>
                <a:tab pos="755650" algn="l"/>
              </a:tabLst>
            </a:pP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len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(list) </a:t>
            </a:r>
            <a:r>
              <a:rPr lang="en-CA" spc="-10" dirty="0">
                <a:latin typeface="Arial"/>
                <a:cs typeface="Arial"/>
              </a:rPr>
              <a:t>: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re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urn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number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f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elemen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li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st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leng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812800" marR="700405" lvl="1" indent="-342900">
              <a:lnSpc>
                <a:spcPct val="105300"/>
              </a:lnSpc>
              <a:spcBef>
                <a:spcPts val="265"/>
              </a:spcBef>
              <a:tabLst>
                <a:tab pos="755650" algn="l"/>
              </a:tabLst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min(list) </a:t>
            </a:r>
            <a:r>
              <a:rPr lang="en-CA" spc="-10" dirty="0">
                <a:latin typeface="Arial"/>
                <a:cs typeface="Arial"/>
              </a:rPr>
              <a:t>: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re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urn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value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f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smalle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st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ement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li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CA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12800" marR="903605" lvl="1" indent="-342900">
              <a:lnSpc>
                <a:spcPct val="105300"/>
              </a:lnSpc>
              <a:spcBef>
                <a:spcPts val="265"/>
              </a:spcBef>
              <a:tabLst>
                <a:tab pos="755650" algn="l"/>
              </a:tabLst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max(list) </a:t>
            </a:r>
            <a:r>
              <a:rPr lang="en-CA" spc="-10" dirty="0">
                <a:latin typeface="Arial"/>
                <a:cs typeface="Arial"/>
              </a:rPr>
              <a:t>: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re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urn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value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f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large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st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ement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5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li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CA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12800" marR="1243330" lvl="1" indent="-342900">
              <a:lnSpc>
                <a:spcPct val="106500"/>
              </a:lnSpc>
              <a:spcBef>
                <a:spcPts val="229"/>
              </a:spcBef>
              <a:tabLst>
                <a:tab pos="755650" algn="l"/>
              </a:tabLst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sum(list) </a:t>
            </a:r>
            <a:r>
              <a:rPr lang="en-CA" spc="-10" dirty="0">
                <a:latin typeface="Arial"/>
                <a:cs typeface="Arial"/>
              </a:rPr>
              <a:t>: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re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urn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sum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f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elemen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s 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of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li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st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(li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st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CA" spc="-15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ems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mu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st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en-CA" spc="-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numeric)</a:t>
            </a: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CA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96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Lists are objects and just like other objects, the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 type has associated methods that are only valid for lists</a:t>
            </a:r>
          </a:p>
          <a:p>
            <a:r>
              <a:rPr lang="en-US" dirty="0"/>
              <a:t>Recall you can find out which methods are associated with objects using the built-in function </a:t>
            </a:r>
            <a:r>
              <a:rPr lang="en-US" dirty="0" err="1">
                <a:solidFill>
                  <a:srgbClr val="00B0F0"/>
                </a:solidFill>
              </a:rPr>
              <a:t>dir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88BD85-6339-D54E-9A75-9A7956CAAE6D}"/>
              </a:ext>
            </a:extLst>
          </p:cNvPr>
          <p:cNvSpPr txBox="1">
            <a:spLocks/>
          </p:cNvSpPr>
          <p:nvPr/>
        </p:nvSpPr>
        <p:spPr>
          <a:xfrm>
            <a:off x="1031837" y="3874396"/>
            <a:ext cx="9109365" cy="25694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dir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(list)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['__add__', '__class__',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class_getitem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'__contains__',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delattr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delitem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dir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'__doc__', '__eq__', '__format__',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getattribute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getitem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'__hash__',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iadd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imul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init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init_subclass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iter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'__le__',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len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lt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mul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'__ne__', '__new__', '__reduce__',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reduce_ex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repr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'__reversed__',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rmul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setattr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setitem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sizeof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'__str__',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subclasshook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'append', 'clear', 'copy', 'count', 'extend', 'index', 'insert', 'pop', 'remove', 'reverse', 'sort']</a:t>
            </a:r>
          </a:p>
        </p:txBody>
      </p:sp>
    </p:spTree>
    <p:extLst>
      <p:ext uri="{BB962C8B-B14F-4D97-AF65-F5344CB8AC3E}">
        <p14:creationId xmlns:p14="http://schemas.microsoft.com/office/powerpoint/2010/main" val="3930113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Adding Items to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19" y="1763278"/>
            <a:ext cx="11267536" cy="4835479"/>
          </a:xfrm>
        </p:spPr>
        <p:txBody>
          <a:bodyPr/>
          <a:lstStyle/>
          <a:p>
            <a:r>
              <a:rPr lang="en-US" dirty="0"/>
              <a:t>To add an </a:t>
            </a:r>
            <a:r>
              <a:rPr lang="en-US" dirty="0">
                <a:solidFill>
                  <a:srgbClr val="FF00E9"/>
                </a:solidFill>
              </a:rPr>
              <a:t>object</a:t>
            </a:r>
            <a:r>
              <a:rPr lang="en-US" dirty="0"/>
              <a:t> to the end of a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, use the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 method </a:t>
            </a:r>
            <a:r>
              <a:rPr lang="en-US" dirty="0">
                <a:solidFill>
                  <a:schemeClr val="accent1"/>
                </a:solidFill>
              </a:rPr>
              <a:t>append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To add a </a:t>
            </a:r>
            <a:r>
              <a:rPr lang="en-US" dirty="0">
                <a:solidFill>
                  <a:srgbClr val="FF00E9"/>
                </a:solidFill>
              </a:rPr>
              <a:t>list</a:t>
            </a:r>
            <a:r>
              <a:rPr lang="en-US" dirty="0"/>
              <a:t> to the end of a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, use the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 method </a:t>
            </a:r>
            <a:r>
              <a:rPr lang="en-US" dirty="0">
                <a:solidFill>
                  <a:schemeClr val="accent1"/>
                </a:solidFill>
              </a:rPr>
              <a:t>extend</a:t>
            </a:r>
            <a:r>
              <a:rPr lang="en-US" dirty="0"/>
              <a:t>:</a:t>
            </a: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88BD85-6339-D54E-9A75-9A7956CAAE6D}"/>
              </a:ext>
            </a:extLst>
          </p:cNvPr>
          <p:cNvSpPr txBox="1">
            <a:spLocks/>
          </p:cNvSpPr>
          <p:nvPr/>
        </p:nvSpPr>
        <p:spPr>
          <a:xfrm>
            <a:off x="595745" y="2378107"/>
            <a:ext cx="9109365" cy="165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colour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s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=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['blue'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'yellow’]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colours.append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('brown’)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colours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['blue'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'yellow'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'brown']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E851C5-44A3-264E-A334-F71C1F2213A0}"/>
              </a:ext>
            </a:extLst>
          </p:cNvPr>
          <p:cNvSpPr txBox="1">
            <a:spLocks/>
          </p:cNvSpPr>
          <p:nvPr/>
        </p:nvSpPr>
        <p:spPr>
          <a:xfrm>
            <a:off x="595744" y="4945189"/>
            <a:ext cx="9109365" cy="165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colour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s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=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['blue'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'yellow’]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colours.extend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([‘</a:t>
            </a:r>
            <a:r>
              <a:rPr lang="en-CA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pink’,‘green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’])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colours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['blue'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>
                <a:solidFill>
                  <a:srgbClr val="00FF00"/>
                </a:solidFill>
                <a:latin typeface="Courier New"/>
                <a:cs typeface="Courier New"/>
              </a:rPr>
              <a:t>'yellow',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‘pink’, ‘green’]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39539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Removing Items from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19" y="1846405"/>
            <a:ext cx="11267536" cy="50115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remove an </a:t>
            </a:r>
            <a:r>
              <a:rPr lang="en-US" dirty="0">
                <a:solidFill>
                  <a:srgbClr val="FF00E9"/>
                </a:solidFill>
              </a:rPr>
              <a:t>object</a:t>
            </a:r>
            <a:r>
              <a:rPr lang="en-US" dirty="0"/>
              <a:t> from a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, use the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 method </a:t>
            </a:r>
            <a:r>
              <a:rPr lang="en-US" dirty="0">
                <a:solidFill>
                  <a:schemeClr val="accent1"/>
                </a:solidFill>
              </a:rPr>
              <a:t>remove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can we write it so there’s no error?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88BD85-6339-D54E-9A75-9A7956CAAE6D}"/>
              </a:ext>
            </a:extLst>
          </p:cNvPr>
          <p:cNvSpPr txBox="1">
            <a:spLocks/>
          </p:cNvSpPr>
          <p:nvPr/>
        </p:nvSpPr>
        <p:spPr>
          <a:xfrm>
            <a:off x="595745" y="2378106"/>
            <a:ext cx="10758055" cy="3752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colour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s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=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['blue'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'yellow’, ‘pink’]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colours.remove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(‘yellow’)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&gt;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colours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['blue'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‘pink’]</a:t>
            </a:r>
          </a:p>
          <a:p>
            <a:pPr marL="772794" indent="0">
              <a:lnSpc>
                <a:spcPct val="100000"/>
              </a:lnSpc>
              <a:buNone/>
            </a:pPr>
            <a:endParaRPr lang="en-CA" sz="2400" spc="-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colours.remove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(‘red’)</a:t>
            </a:r>
          </a:p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FF0000"/>
                </a:solidFill>
                <a:latin typeface="Courier New"/>
                <a:cs typeface="Courier New"/>
              </a:rPr>
              <a:t>Traceback (most recent call last):</a:t>
            </a:r>
          </a:p>
          <a:p>
            <a:pPr marL="772794" indent="0">
              <a:lnSpc>
                <a:spcPct val="100000"/>
              </a:lnSpc>
              <a:buNone/>
            </a:pPr>
            <a:r>
              <a:rPr lang="en-CA" sz="2400" dirty="0" err="1">
                <a:solidFill>
                  <a:srgbClr val="FF0000"/>
                </a:solidFill>
                <a:latin typeface="Courier New"/>
                <a:cs typeface="Courier New"/>
              </a:rPr>
              <a:t>builtins.ValueError</a:t>
            </a:r>
            <a:r>
              <a:rPr lang="en-CA" sz="2400" dirty="0">
                <a:solidFill>
                  <a:srgbClr val="FF0000"/>
                </a:solidFill>
                <a:latin typeface="Courier New"/>
                <a:cs typeface="Courier New"/>
              </a:rPr>
              <a:t>: </a:t>
            </a:r>
            <a:r>
              <a:rPr lang="en-CA" sz="2400" dirty="0" err="1">
                <a:solidFill>
                  <a:srgbClr val="FF0000"/>
                </a:solidFill>
                <a:latin typeface="Courier New"/>
                <a:cs typeface="Courier New"/>
              </a:rPr>
              <a:t>list.remove</a:t>
            </a:r>
            <a:r>
              <a:rPr lang="en-CA" sz="2400" dirty="0">
                <a:solidFill>
                  <a:srgbClr val="FF0000"/>
                </a:solidFill>
                <a:latin typeface="Courier New"/>
                <a:cs typeface="Courier New"/>
              </a:rPr>
              <a:t>(x): x not in list</a:t>
            </a:r>
          </a:p>
        </p:txBody>
      </p:sp>
    </p:spTree>
    <p:extLst>
      <p:ext uri="{BB962C8B-B14F-4D97-AF65-F5344CB8AC3E}">
        <p14:creationId xmlns:p14="http://schemas.microsoft.com/office/powerpoint/2010/main" val="1913314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something </a:t>
            </a:r>
            <a:r>
              <a:rPr lang="en-US" dirty="0">
                <a:solidFill>
                  <a:schemeClr val="accent6"/>
                </a:solidFill>
              </a:rPr>
              <a:t>in</a:t>
            </a:r>
            <a:r>
              <a:rPr lang="en-US" dirty="0"/>
              <a:t> my </a:t>
            </a:r>
            <a:r>
              <a:rPr lang="en-US" dirty="0">
                <a:solidFill>
                  <a:schemeClr val="accent6"/>
                </a:solidFill>
              </a:rPr>
              <a:t>list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19" y="1846405"/>
            <a:ext cx="11267536" cy="5011595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in</a:t>
            </a:r>
            <a:r>
              <a:rPr lang="en-US" dirty="0"/>
              <a:t> operator can be used on lists too!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88BD85-6339-D54E-9A75-9A7956CAAE6D}"/>
              </a:ext>
            </a:extLst>
          </p:cNvPr>
          <p:cNvSpPr txBox="1">
            <a:spLocks/>
          </p:cNvSpPr>
          <p:nvPr/>
        </p:nvSpPr>
        <p:spPr>
          <a:xfrm>
            <a:off x="595745" y="2710615"/>
            <a:ext cx="9109365" cy="3752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colour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s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=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['blue'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, 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'yellow’, ‘pink’]</a:t>
            </a:r>
            <a:b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if ‘red’ in colours:</a:t>
            </a:r>
          </a:p>
          <a:p>
            <a:pPr marL="772794" indent="0">
              <a:lnSpc>
                <a:spcPct val="100000"/>
              </a:lnSpc>
              <a:buNone/>
            </a:pP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  <a:r>
              <a:rPr lang="en-CA" sz="2400" spc="-5" dirty="0" err="1">
                <a:solidFill>
                  <a:srgbClr val="00FF00"/>
                </a:solidFill>
                <a:latin typeface="Courier New"/>
                <a:cs typeface="Courier New"/>
              </a:rPr>
              <a:t>colours.remove</a:t>
            </a:r>
            <a:r>
              <a:rPr lang="en-CA" sz="2400" spc="-5" dirty="0">
                <a:solidFill>
                  <a:srgbClr val="00FF00"/>
                </a:solidFill>
                <a:latin typeface="Courier New"/>
                <a:cs typeface="Courier New"/>
              </a:rPr>
              <a:t>(‘red’)</a:t>
            </a:r>
          </a:p>
        </p:txBody>
      </p:sp>
    </p:spTree>
    <p:extLst>
      <p:ext uri="{BB962C8B-B14F-4D97-AF65-F5344CB8AC3E}">
        <p14:creationId xmlns:p14="http://schemas.microsoft.com/office/powerpoint/2010/main" val="2435170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List Methods</a:t>
            </a:r>
          </a:p>
        </p:txBody>
      </p:sp>
    </p:spTree>
    <p:extLst>
      <p:ext uri="{BB962C8B-B14F-4D97-AF65-F5344CB8AC3E}">
        <p14:creationId xmlns:p14="http://schemas.microsoft.com/office/powerpoint/2010/main" val="1133066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Lists: indexing and slicing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7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7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1207010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25687</TotalTime>
  <Words>1860</Words>
  <Application>Microsoft Office PowerPoint</Application>
  <PresentationFormat>Widescreen</PresentationFormat>
  <Paragraphs>349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Courier</vt:lpstr>
      <vt:lpstr>Courier New</vt:lpstr>
      <vt:lpstr>Segoe UI</vt:lpstr>
      <vt:lpstr>Wingdings</vt:lpstr>
      <vt:lpstr>APS106_PPTX_Theme</vt:lpstr>
      <vt:lpstr>Lists: indexing and slicing.</vt:lpstr>
      <vt:lpstr>This Week’s Content</vt:lpstr>
      <vt:lpstr>Next Midterm: March 12</vt:lpstr>
      <vt:lpstr>Learning objectives</vt:lpstr>
      <vt:lpstr>Motivation</vt:lpstr>
      <vt:lpstr>Motivation</vt:lpstr>
      <vt:lpstr>One way: Tables or Lists!</vt:lpstr>
      <vt:lpstr>Data Structures!</vt:lpstr>
      <vt:lpstr>Type: List</vt:lpstr>
      <vt:lpstr>List Elements</vt:lpstr>
      <vt:lpstr>List Operations (Indexing and Slicing)</vt:lpstr>
      <vt:lpstr>Nested Lists</vt:lpstr>
      <vt:lpstr>Nested Lists Example</vt:lpstr>
      <vt:lpstr>Nested Lists – like a table!</vt:lpstr>
      <vt:lpstr>Let’s Code!</vt:lpstr>
      <vt:lpstr>List Mutability</vt:lpstr>
      <vt:lpstr>List Mutability Example</vt:lpstr>
      <vt:lpstr>Mutability is powerful! But it can get us into trouble if we’re not careful.</vt:lpstr>
      <vt:lpstr>This is called aliasing</vt:lpstr>
      <vt:lpstr>Aliasing Example (with Visualizer)</vt:lpstr>
      <vt:lpstr>Copying Lists and Avoiding Aliasing</vt:lpstr>
      <vt:lpstr>Avoiding Aliasing Example (with Visualizer)</vt:lpstr>
      <vt:lpstr>Let’s Code!</vt:lpstr>
      <vt:lpstr>Built-in Functions</vt:lpstr>
      <vt:lpstr>List Methods</vt:lpstr>
      <vt:lpstr>Adding Items to a List</vt:lpstr>
      <vt:lpstr>Removing Items from a List</vt:lpstr>
      <vt:lpstr>Is something in my list?</vt:lpstr>
      <vt:lpstr>Let’s Code!</vt:lpstr>
      <vt:lpstr>Lists: indexing and slicing.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Rebecca Alcock</cp:lastModifiedBy>
  <cp:revision>175</cp:revision>
  <dcterms:created xsi:type="dcterms:W3CDTF">2021-11-03T00:49:37Z</dcterms:created>
  <dcterms:modified xsi:type="dcterms:W3CDTF">2026-02-25T16:29:06Z</dcterms:modified>
</cp:coreProperties>
</file>